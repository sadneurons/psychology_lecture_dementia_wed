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10.png" ContentType="image/png"/>
  <Override PartName="/ppt/media/image7.png" ContentType="image/png"/>
  <Override PartName="/ppt/media/image11.png" ContentType="image/png"/>
  <Override PartName="/ppt/media/image8.png" ContentType="image/png"/>
  <Override PartName="/ppt/media/image12.png" ContentType="image/png"/>
  <Override PartName="/ppt/media/image9.png" ContentType="image/png"/>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47.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4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60.xml" ContentType="application/vnd.openxmlformats-officedocument.presentationml.slide+xml"/>
  <Override PartName="/ppt/slides/slide18.xml" ContentType="application/vnd.openxmlformats-officedocument.presentationml.slide+xml"/>
  <Override PartName="/ppt/slides/slide61.xml" ContentType="application/vnd.openxmlformats-officedocument.presentationml.slide+xml"/>
  <Override PartName="/ppt/slides/slide19.xml" ContentType="application/vnd.openxmlformats-officedocument.presentationml.slide+xml"/>
  <Override PartName="/ppt/slides/slide74.xml" ContentType="application/vnd.openxmlformats-officedocument.presentationml.slide+xml"/>
  <Override PartName="/ppt/slides/slide62.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_rels/slide37.xml.rels" ContentType="application/vnd.openxmlformats-package.relationships+xml"/>
  <Override PartName="/ppt/slides/_rels/slide36.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13.xml.rels" ContentType="application/vnd.openxmlformats-package.relationships+xml"/>
  <Override PartName="/ppt/slides/_rels/slide59.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5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48.xml.rels" ContentType="application/vnd.openxmlformats-package.relationships+xml"/>
  <Override PartName="/ppt/slides/_rels/slide60.xml.rels" ContentType="application/vnd.openxmlformats-package.relationships+xml"/>
  <Override PartName="/ppt/slides/_rels/slide18.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46.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47.xml.rels" ContentType="application/vnd.openxmlformats-package.relationships+xml"/>
  <Override PartName="/ppt/slides/_rels/slide10.xml.rels" ContentType="application/vnd.openxmlformats-package.relationships+xml"/>
  <Override PartName="/ppt/slides/_rels/slide56.xml.rels" ContentType="application/vnd.openxmlformats-package.relationships+xml"/>
  <Override PartName="/ppt/slides/_rels/slide2.xml.rels" ContentType="application/vnd.openxmlformats-package.relationships+xml"/>
  <Override PartName="/ppt/slides/_rels/slide44.xml.rels" ContentType="application/vnd.openxmlformats-package.relationships+xml"/>
  <Override PartName="/ppt/slides/_rels/slide55.xml.rels" ContentType="application/vnd.openxmlformats-package.relationships+xml"/>
  <Override PartName="/ppt/slides/_rels/slide43.xml.rels" ContentType="application/vnd.openxmlformats-package.relationships+xml"/>
  <Override PartName="/ppt/slides/_rels/slide54.xml.rels" ContentType="application/vnd.openxmlformats-package.relationships+xml"/>
  <Override PartName="/ppt/slides/_rels/slide42.xml.rels" ContentType="application/vnd.openxmlformats-package.relationships+xml"/>
  <Override PartName="/ppt/slides/_rels/slide16.xml.rels" ContentType="application/vnd.openxmlformats-package.relationships+xml"/>
  <Override PartName="/ppt/slides/_rels/slide53.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15.xml.rels" ContentType="application/vnd.openxmlformats-package.relationships+xml"/>
  <Override PartName="/ppt/slides/_rels/slide52.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14.xml.rels" ContentType="application/vnd.openxmlformats-package.relationships+xml"/>
  <Override PartName="/ppt/slides/_rels/slide51.xml.rels" ContentType="application/vnd.openxmlformats-package.relationships+xml"/>
  <Override PartName="/ppt/slides/_rels/slide50.xml.rels" ContentType="application/vnd.openxmlformats-package.relationships+xml"/>
  <Override PartName="/ppt/slides/_rels/slide45.xml.rels" ContentType="application/vnd.openxmlformats-package.relationships+xml"/>
  <Override PartName="/ppt/slides/_rels/slide61.xml.rels" ContentType="application/vnd.openxmlformats-package.relationships+xml"/>
  <Override PartName="/ppt/slides/_rels/slide19.xml.rels" ContentType="application/vnd.openxmlformats-package.relationships+xml"/>
  <Override PartName="/ppt/slides/_rels/slide74.xml.rels" ContentType="application/vnd.openxmlformats-package.relationships+xml"/>
  <Override PartName="/ppt/slides/_rels/slide62.xml.rels" ContentType="application/vnd.openxmlformats-package.relationships+xml"/>
  <Override PartName="/ppt/slides/_rels/slide73.xml.rels" ContentType="application/vnd.openxmlformats-package.relationships+xml"/>
  <Override PartName="/ppt/slides/_rels/slide72.xml.rels" ContentType="application/vnd.openxmlformats-package.relationships+xml"/>
  <Override PartName="/ppt/slides/_rels/slide71.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69.xml.rels" ContentType="application/vnd.openxmlformats-package.relationships+xml"/>
  <Override PartName="/ppt/slides/_rels/slide32.xml.rels" ContentType="application/vnd.openxmlformats-package.relationships+xml"/>
  <Override PartName="/ppt/slides/_rels/slide70.xml.rels" ContentType="application/vnd.openxmlformats-package.relationships+xml"/>
  <Override PartName="/ppt/slides/_rels/slide28.xml.rels" ContentType="application/vnd.openxmlformats-package.relationships+xml"/>
  <Override PartName="/ppt/slides/_rels/slide68.xml.rels" ContentType="application/vnd.openxmlformats-package.relationships+xml"/>
  <Override PartName="/ppt/slides/_rels/slide31.xml.rels" ContentType="application/vnd.openxmlformats-package.relationships+xml"/>
  <Override PartName="/ppt/slides/_rels/slide67.xml.rels" ContentType="application/vnd.openxmlformats-package.relationships+xml"/>
  <Override PartName="/ppt/slides/_rels/slide30.xml.rels" ContentType="application/vnd.openxmlformats-package.relationships+xml"/>
  <Override PartName="/ppt/slides/_rels/slide66.xml.rels" ContentType="application/vnd.openxmlformats-package.relationships+xml"/>
  <Override PartName="/ppt/slides/_rels/slide65.xml.rels" ContentType="application/vnd.openxmlformats-package.relationships+xml"/>
  <Override PartName="/ppt/slides/_rels/slide27.xml.rels" ContentType="application/vnd.openxmlformats-package.relationships+xml"/>
  <Override PartName="/ppt/slides/_rels/slide64.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63.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57.xml.rels" ContentType="application/vnd.openxmlformats-package.relationships+xml"/>
  <Override PartName="/ppt/slides/_rels/slide11.xml.rels" ContentType="application/vnd.openxmlformats-package.relationships+xml"/>
  <Override PartName="/ppt/slides/slide71.xml" ContentType="application/vnd.openxmlformats-officedocument.presentationml.slide+xml"/>
  <Override PartName="/ppt/slides/slide29.xml" ContentType="application/vnd.openxmlformats-officedocument.presentationml.slide+xml"/>
  <Override PartName="/ppt/slides/slide69.xml" ContentType="application/vnd.openxmlformats-officedocument.presentationml.slide+xml"/>
  <Override PartName="/ppt/slides/slide32.xml" ContentType="application/vnd.openxmlformats-officedocument.presentationml.slide+xml"/>
  <Override PartName="/ppt/slides/slide70.xml" ContentType="application/vnd.openxmlformats-officedocument.presentationml.slide+xml"/>
  <Override PartName="/ppt/slides/slide28.xml" ContentType="application/vnd.openxmlformats-officedocument.presentationml.slide+xml"/>
  <Override PartName="/ppt/slides/slide68.xml" ContentType="application/vnd.openxmlformats-officedocument.presentationml.slide+xml"/>
  <Override PartName="/ppt/slides/slide31.xml" ContentType="application/vnd.openxmlformats-officedocument.presentationml.slide+xml"/>
  <Override PartName="/ppt/slides/slide67.xml" ContentType="application/vnd.openxmlformats-officedocument.presentationml.slide+xml"/>
  <Override PartName="/ppt/slides/slide30.xml" ContentType="application/vnd.openxmlformats-officedocument.presentationml.slide+xml"/>
  <Override PartName="/ppt/slides/slide66.xml" ContentType="application/vnd.openxmlformats-officedocument.presentationml.slide+xml"/>
  <Override PartName="/ppt/slides/slide65.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48.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Slides/_rels/notesSlide67.xml.rels" ContentType="application/vnd.openxmlformats-package.relationships+xml"/>
  <Override PartName="/ppt/notesSlides/_rels/notesSlide66.xml.rels" ContentType="application/vnd.openxmlformats-package.relationships+xml"/>
  <Override PartName="/ppt/notesSlides/_rels/notesSlide62.xml.rels" ContentType="application/vnd.openxmlformats-package.relationships+xml"/>
  <Override PartName="/ppt/notesSlides/_rels/notesSlide8.xml.rels" ContentType="application/vnd.openxmlformats-package.relationships+xml"/>
  <Override PartName="/ppt/notesSlides/_rels/notesSlide60.xml.rels" ContentType="application/vnd.openxmlformats-package.relationships+xml"/>
  <Override PartName="/ppt/notesSlides/_rels/notesSlide57.xml.rels" ContentType="application/vnd.openxmlformats-package.relationships+xml"/>
  <Override PartName="/ppt/notesSlides/_rels/notesSlide68.xml.rels" ContentType="application/vnd.openxmlformats-package.relationships+xml"/>
  <Override PartName="/ppt/notesSlides/_rels/notesSlide56.xml.rels" ContentType="application/vnd.openxmlformats-package.relationships+xml"/>
  <Override PartName="/ppt/notesSlides/_rels/notesSlide44.xml.rels" ContentType="application/vnd.openxmlformats-package.relationships+xml"/>
  <Override PartName="/ppt/notesSlides/_rels/notesSlide20.xml.rels" ContentType="application/vnd.openxmlformats-package.relationships+xml"/>
  <Override PartName="/ppt/notesSlides/_rels/notesSlide10.xml.rels" ContentType="application/vnd.openxmlformats-package.relationships+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notesSlides/notesSlide44.xml" ContentType="application/vnd.openxmlformats-officedocument.presentationml.notesSlide+xml"/>
  <Override PartName="/ppt/notesSlides/notesSlide56.xml" ContentType="application/vnd.openxmlformats-officedocument.presentationml.notesSlide+xml"/>
  <Override PartName="/ppt/notesSlides/notesSlide68.xml" ContentType="application/vnd.openxmlformats-officedocument.presentationml.notesSlide+xml"/>
  <Override PartName="/ppt/notesSlides/notesSlide57.xml" ContentType="application/vnd.openxmlformats-officedocument.presentationml.notesSlide+xml"/>
  <Override PartName="/ppt/notesSlides/notesSlide60.xml" ContentType="application/vnd.openxmlformats-officedocument.presentationml.notesSlide+xml"/>
  <Override PartName="/ppt/notesSlides/notesSlide62.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 id="304" r:id="rId62"/>
    <p:sldId id="305" r:id="rId63"/>
    <p:sldId id="306" r:id="rId64"/>
    <p:sldId id="307" r:id="rId65"/>
    <p:sldId id="308" r:id="rId66"/>
    <p:sldId id="309" r:id="rId67"/>
    <p:sldId id="310" r:id="rId68"/>
    <p:sldId id="311" r:id="rId69"/>
    <p:sldId id="312" r:id="rId70"/>
    <p:sldId id="313" r:id="rId71"/>
    <p:sldId id="314" r:id="rId72"/>
    <p:sldId id="315" r:id="rId73"/>
    <p:sldId id="316" r:id="rId74"/>
    <p:sldId id="317" r:id="rId75"/>
    <p:sldId id="318" r:id="rId76"/>
    <p:sldId id="319" r:id="rId77"/>
    <p:sldId id="320" r:id="rId78"/>
    <p:sldId id="321" r:id="rId79"/>
    <p:sldId id="322" r:id="rId80"/>
    <p:sldId id="323" r:id="rId81"/>
    <p:sldId id="324" r:id="rId82"/>
    <p:sldId id="325" r:id="rId83"/>
    <p:sldId id="326" r:id="rId84"/>
    <p:sldId id="327" r:id="rId85"/>
    <p:sldId id="328" r:id="rId86"/>
    <p:sldId id="329" r:id="rId8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slide" Target="slides/slide33.xml"/><Relationship Id="rId47" Type="http://schemas.openxmlformats.org/officeDocument/2006/relationships/slide" Target="slides/slide34.xml"/><Relationship Id="rId48" Type="http://schemas.openxmlformats.org/officeDocument/2006/relationships/slide" Target="slides/slide35.xml"/><Relationship Id="rId49" Type="http://schemas.openxmlformats.org/officeDocument/2006/relationships/slide" Target="slides/slide36.xml"/><Relationship Id="rId50" Type="http://schemas.openxmlformats.org/officeDocument/2006/relationships/slide" Target="slides/slide37.xml"/><Relationship Id="rId51" Type="http://schemas.openxmlformats.org/officeDocument/2006/relationships/slide" Target="slides/slide38.xml"/><Relationship Id="rId52" Type="http://schemas.openxmlformats.org/officeDocument/2006/relationships/slide" Target="slides/slide39.xml"/><Relationship Id="rId53" Type="http://schemas.openxmlformats.org/officeDocument/2006/relationships/slide" Target="slides/slide40.xml"/><Relationship Id="rId54" Type="http://schemas.openxmlformats.org/officeDocument/2006/relationships/slide" Target="slides/slide41.xml"/><Relationship Id="rId55" Type="http://schemas.openxmlformats.org/officeDocument/2006/relationships/slide" Target="slides/slide42.xml"/><Relationship Id="rId56" Type="http://schemas.openxmlformats.org/officeDocument/2006/relationships/slide" Target="slides/slide43.xml"/><Relationship Id="rId57" Type="http://schemas.openxmlformats.org/officeDocument/2006/relationships/slide" Target="slides/slide44.xml"/><Relationship Id="rId58" Type="http://schemas.openxmlformats.org/officeDocument/2006/relationships/slide" Target="slides/slide45.xml"/><Relationship Id="rId59" Type="http://schemas.openxmlformats.org/officeDocument/2006/relationships/slide" Target="slides/slide46.xml"/><Relationship Id="rId60" Type="http://schemas.openxmlformats.org/officeDocument/2006/relationships/slide" Target="slides/slide47.xml"/><Relationship Id="rId61" Type="http://schemas.openxmlformats.org/officeDocument/2006/relationships/slide" Target="slides/slide48.xml"/><Relationship Id="rId62" Type="http://schemas.openxmlformats.org/officeDocument/2006/relationships/slide" Target="slides/slide49.xml"/><Relationship Id="rId63" Type="http://schemas.openxmlformats.org/officeDocument/2006/relationships/slide" Target="slides/slide50.xml"/><Relationship Id="rId64" Type="http://schemas.openxmlformats.org/officeDocument/2006/relationships/slide" Target="slides/slide51.xml"/><Relationship Id="rId65" Type="http://schemas.openxmlformats.org/officeDocument/2006/relationships/slide" Target="slides/slide52.xml"/><Relationship Id="rId66" Type="http://schemas.openxmlformats.org/officeDocument/2006/relationships/slide" Target="slides/slide53.xml"/><Relationship Id="rId67" Type="http://schemas.openxmlformats.org/officeDocument/2006/relationships/slide" Target="slides/slide54.xml"/><Relationship Id="rId68" Type="http://schemas.openxmlformats.org/officeDocument/2006/relationships/slide" Target="slides/slide55.xml"/><Relationship Id="rId69" Type="http://schemas.openxmlformats.org/officeDocument/2006/relationships/slide" Target="slides/slide56.xml"/><Relationship Id="rId70" Type="http://schemas.openxmlformats.org/officeDocument/2006/relationships/slide" Target="slides/slide57.xml"/><Relationship Id="rId71" Type="http://schemas.openxmlformats.org/officeDocument/2006/relationships/slide" Target="slides/slide58.xml"/><Relationship Id="rId72" Type="http://schemas.openxmlformats.org/officeDocument/2006/relationships/slide" Target="slides/slide59.xml"/><Relationship Id="rId73" Type="http://schemas.openxmlformats.org/officeDocument/2006/relationships/slide" Target="slides/slide60.xml"/><Relationship Id="rId74" Type="http://schemas.openxmlformats.org/officeDocument/2006/relationships/slide" Target="slides/slide61.xml"/><Relationship Id="rId75" Type="http://schemas.openxmlformats.org/officeDocument/2006/relationships/slide" Target="slides/slide62.xml"/><Relationship Id="rId76" Type="http://schemas.openxmlformats.org/officeDocument/2006/relationships/slide" Target="slides/slide63.xml"/><Relationship Id="rId77" Type="http://schemas.openxmlformats.org/officeDocument/2006/relationships/slide" Target="slides/slide64.xml"/><Relationship Id="rId78" Type="http://schemas.openxmlformats.org/officeDocument/2006/relationships/slide" Target="slides/slide65.xml"/><Relationship Id="rId79" Type="http://schemas.openxmlformats.org/officeDocument/2006/relationships/slide" Target="slides/slide66.xml"/><Relationship Id="rId80" Type="http://schemas.openxmlformats.org/officeDocument/2006/relationships/slide" Target="slides/slide67.xml"/><Relationship Id="rId81" Type="http://schemas.openxmlformats.org/officeDocument/2006/relationships/slide" Target="slides/slide68.xml"/><Relationship Id="rId82" Type="http://schemas.openxmlformats.org/officeDocument/2006/relationships/slide" Target="slides/slide69.xml"/><Relationship Id="rId83" Type="http://schemas.openxmlformats.org/officeDocument/2006/relationships/slide" Target="slides/slide70.xml"/><Relationship Id="rId84" Type="http://schemas.openxmlformats.org/officeDocument/2006/relationships/slide" Target="slides/slide71.xml"/><Relationship Id="rId85" Type="http://schemas.openxmlformats.org/officeDocument/2006/relationships/slide" Target="slides/slide72.xml"/><Relationship Id="rId86" Type="http://schemas.openxmlformats.org/officeDocument/2006/relationships/slide" Target="slides/slide73.xml"/><Relationship Id="rId87" Type="http://schemas.openxmlformats.org/officeDocument/2006/relationships/slide" Target="slides/slide74.xml"/><Relationship Id="rId8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6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GB" sz="2000" spc="-1" strike="noStrike">
                <a:solidFill>
                  <a:srgbClr val="000000"/>
                </a:solidFill>
                <a:latin typeface="Arial"/>
              </a:rPr>
              <a:t>Click to edit the notes' format</a:t>
            </a:r>
            <a:endParaRPr b="0" lang="en-GB" sz="2000" spc="-1" strike="noStrike">
              <a:solidFill>
                <a:srgbClr val="000000"/>
              </a:solidFill>
              <a:latin typeface="Arial"/>
            </a:endParaRPr>
          </a:p>
        </p:txBody>
      </p:sp>
      <p:sp>
        <p:nvSpPr>
          <p:cNvPr id="6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GB" sz="1400" spc="-1" strike="noStrike">
                <a:solidFill>
                  <a:srgbClr val="000000"/>
                </a:solidFill>
                <a:latin typeface="Times New Roman"/>
              </a:rPr>
              <a:t>&lt;header&gt;</a:t>
            </a:r>
            <a:endParaRPr b="0" lang="en-GB" sz="1400" spc="-1" strike="noStrike">
              <a:solidFill>
                <a:srgbClr val="000000"/>
              </a:solidFill>
              <a:latin typeface="Times New Roman"/>
            </a:endParaRPr>
          </a:p>
        </p:txBody>
      </p:sp>
      <p:sp>
        <p:nvSpPr>
          <p:cNvPr id="69"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GB" sz="1400" spc="-1" strike="noStrike">
                <a:solidFill>
                  <a:srgbClr val="000000"/>
                </a:solidFill>
                <a:latin typeface="Times New Roman"/>
              </a:defRPr>
            </a:lvl1pPr>
          </a:lstStyle>
          <a:p>
            <a:pPr indent="0" algn="r">
              <a:buNone/>
            </a:pPr>
            <a:r>
              <a:rPr b="0" lang="en-GB" sz="1400" spc="-1" strike="noStrike">
                <a:solidFill>
                  <a:srgbClr val="000000"/>
                </a:solidFill>
                <a:latin typeface="Times New Roman"/>
              </a:rPr>
              <a:t>&lt;date/time&gt;</a:t>
            </a:r>
            <a:endParaRPr b="0" lang="en-GB" sz="1400" spc="-1" strike="noStrike">
              <a:solidFill>
                <a:srgbClr val="000000"/>
              </a:solidFill>
              <a:latin typeface="Times New Roman"/>
            </a:endParaRPr>
          </a:p>
        </p:txBody>
      </p:sp>
      <p:sp>
        <p:nvSpPr>
          <p:cNvPr id="70"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GB" sz="1400" spc="-1" strike="noStrike">
                <a:solidFill>
                  <a:srgbClr val="000000"/>
                </a:solidFill>
                <a:latin typeface="Times New Roman"/>
              </a:defRPr>
            </a:lvl1pPr>
          </a:lstStyle>
          <a:p>
            <a:pPr indent="0">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71"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pc="-1" strike="noStrike">
                <a:solidFill>
                  <a:srgbClr val="000000"/>
                </a:solidFill>
                <a:latin typeface="Times New Roman"/>
              </a:defRPr>
            </a:lvl1pPr>
          </a:lstStyle>
          <a:p>
            <a:pPr indent="0" algn="r">
              <a:buNone/>
            </a:pPr>
            <a:fld id="{805B95B2-A0F7-4DDF-B6F1-AAE48399B7FC}" type="slidenum">
              <a:rPr b="0" lang="en-GB" sz="1400" spc="-1" strike="noStrike">
                <a:solidFill>
                  <a:srgbClr val="000000"/>
                </a:solidFill>
                <a:latin typeface="Times New Roman"/>
              </a:rPr>
              <a:t>&lt;number&gt;</a:t>
            </a:fld>
            <a:endParaRPr b="0" lang="en-GB"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sldImg"/>
          </p:nvPr>
        </p:nvSpPr>
        <p:spPr>
          <a:xfrm>
            <a:off x="685800" y="1143000"/>
            <a:ext cx="5486040" cy="3085920"/>
          </a:xfrm>
          <a:prstGeom prst="rect">
            <a:avLst/>
          </a:prstGeom>
          <a:ln w="0">
            <a:noFill/>
          </a:ln>
        </p:spPr>
      </p:sp>
      <p:sp>
        <p:nvSpPr>
          <p:cNvPr id="2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This figure shows the historical and biological development of Alzheimer’s disease. It walks through the original 1907 case description by Alois Alzheimer, the cholinergic hypothesis of the 1970s, the amyloid cascade hypothesis of 1992, the discovery of presenilin and APP mutations, the introduction of PET amyloid imaging in the 2000s, the 2018 NIA-AA biological framework, and the 2023 to 2024 disease-modifying antibody approvals.</a:t>
            </a:r>
            <a:endParaRPr b="0" lang="en-GB" sz="2000" spc="-1" strike="noStrike">
              <a:solidFill>
                <a:srgbClr val="000000"/>
              </a:solidFill>
              <a:latin typeface="Arial"/>
            </a:endParaRPr>
          </a:p>
        </p:txBody>
      </p:sp>
      <p:sp>
        <p:nvSpPr>
          <p:cNvPr id="239"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B444C662-768C-45F5-AB26-7F3A36A02BF4}" type="slidenum">
              <a:rPr b="0" lang="en-US" sz="1200" spc="-1" strike="noStrike">
                <a:solidFill>
                  <a:schemeClr val="dk1"/>
                </a:solidFill>
                <a:latin typeface="+mn-lt"/>
                <a:ea typeface="+mn-ea"/>
              </a:rPr>
              <a:t>74</a:t>
            </a:fld>
            <a:endParaRPr b="0" lang="en-GB" sz="12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0" name="PlaceHolder 1"/>
          <p:cNvSpPr>
            <a:spLocks noGrp="1"/>
          </p:cNvSpPr>
          <p:nvPr>
            <p:ph type="sldImg"/>
          </p:nvPr>
        </p:nvSpPr>
        <p:spPr>
          <a:xfrm>
            <a:off x="685800" y="1143000"/>
            <a:ext cx="5486040" cy="3085920"/>
          </a:xfrm>
          <a:prstGeom prst="rect">
            <a:avLst/>
          </a:prstGeom>
          <a:ln w="0">
            <a:noFill/>
          </a:ln>
        </p:spPr>
      </p:sp>
      <p:sp>
        <p:nvSpPr>
          <p:cNvPr id="2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Interactive model based on Jack and colleagues, Lancet Neurology 2010 and 2013. The horizontal axis represents the AD continuum from cognitively normal through preclinical AD, subjective cognitive decline, mild cognitive impairment, mild dementia, to moderate-severe dementia. Five sigmoid curves rise across the axis showing biomarker abnormality: amyloid beta becomes abnormal earliest, then phosphorylated tau, then neurodegeneration on MRI and FDG-PET, then cognition on neuropsychological testing, and finally function on activities of daily living. Pathology precedes clinical symptoms by 15 to 20 years, which is the rationale for early biomarker-based diagnosis and for prevention efforts.</a:t>
            </a:r>
            <a:endParaRPr b="0" lang="en-GB" sz="2000" spc="-1" strike="noStrike">
              <a:solidFill>
                <a:srgbClr val="000000"/>
              </a:solidFill>
              <a:latin typeface="Arial"/>
            </a:endParaRPr>
          </a:p>
        </p:txBody>
      </p:sp>
      <p:sp>
        <p:nvSpPr>
          <p:cNvPr id="242"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66778F26-BDA8-4109-8CA9-34FE0711D143}" type="slidenum">
              <a:rPr b="0" lang="en-US" sz="1200" spc="-1" strike="noStrike">
                <a:solidFill>
                  <a:schemeClr val="dk1"/>
                </a:solidFill>
                <a:latin typeface="+mn-lt"/>
                <a:ea typeface="+mn-ea"/>
              </a:rPr>
              <a:t>74</a:t>
            </a:fld>
            <a:endParaRPr b="0" lang="en-GB" sz="1200" spc="-1" strike="noStrike">
              <a:solidFill>
                <a:srgbClr val="000000"/>
              </a:solidFill>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PlaceHolder 1"/>
          <p:cNvSpPr>
            <a:spLocks noGrp="1"/>
          </p:cNvSpPr>
          <p:nvPr>
            <p:ph type="sldImg"/>
          </p:nvPr>
        </p:nvSpPr>
        <p:spPr>
          <a:xfrm>
            <a:off x="685800" y="1143000"/>
            <a:ext cx="5486040" cy="3085920"/>
          </a:xfrm>
          <a:prstGeom prst="rect">
            <a:avLst/>
          </a:prstGeom>
          <a:ln w="0">
            <a:noFill/>
          </a:ln>
        </p:spPr>
      </p:sp>
      <p:sp>
        <p:nvSpPr>
          <p:cNvPr id="2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The chart shows two bars: the 2020 figure of approximately 55 to 57 million people living with dementia worldwide, and the 2050 projection of approximately 139 to 153 million. The growth differential is greatest in low- and middle-income countries, which are estimated to bear three quarters of the increase. Approximately 75 percent of people living with dementia worldwide remain undiagnosed today.</a:t>
            </a:r>
            <a:endParaRPr b="0" lang="en-GB" sz="2000" spc="-1" strike="noStrike">
              <a:solidFill>
                <a:srgbClr val="000000"/>
              </a:solidFill>
              <a:latin typeface="Arial"/>
            </a:endParaRPr>
          </a:p>
        </p:txBody>
      </p:sp>
      <p:sp>
        <p:nvSpPr>
          <p:cNvPr id="245"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E43D7086-E9EE-4BD7-AA94-21859F904BCC}" type="slidenum">
              <a:rPr b="0" lang="en-US" sz="1200" spc="-1" strike="noStrike">
                <a:solidFill>
                  <a:schemeClr val="dk1"/>
                </a:solidFill>
                <a:latin typeface="+mn-lt"/>
                <a:ea typeface="+mn-ea"/>
              </a:rPr>
              <a:t>74</a:t>
            </a:fld>
            <a:endParaRPr b="0" lang="en-GB" sz="1200" spc="-1" strike="noStrike">
              <a:solidFill>
                <a:srgbClr val="000000"/>
              </a:solidFill>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sldImg"/>
          </p:nvPr>
        </p:nvSpPr>
        <p:spPr>
          <a:xfrm>
            <a:off x="685800" y="1143000"/>
            <a:ext cx="5486040" cy="3085920"/>
          </a:xfrm>
          <a:prstGeom prst="rect">
            <a:avLst/>
          </a:prstGeom>
          <a:ln w="0">
            <a:noFill/>
          </a:ln>
        </p:spPr>
      </p:sp>
      <p:sp>
        <p:nvSpPr>
          <p:cNvPr id="2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This chart shows MMSE trajectories for five groups over three years. Untreated AD starts at MMSE 22 and declines to about 14 — roughly 2.5 points per year. AChEi treatment in AD shifts the curve up by about 1 MMSE point and the curves run in parallel: the disease trajectory is unchanged but patients are about 6 months ahead. AChEi plus memantine in moderate AD adds a small further offset. The DLB curves are the striking comparison: AChEi-treated DLB shows an early bump in cognition above baseline and a much slower trajectory of decline. Curves illustrative, parameterised from Knight 2018, Xu 2021 and 2024, and Truzzi 2022.</a:t>
            </a:r>
            <a:endParaRPr b="0" lang="en-GB" sz="2000" spc="-1" strike="noStrike">
              <a:solidFill>
                <a:srgbClr val="000000"/>
              </a:solidFill>
              <a:latin typeface="Arial"/>
            </a:endParaRPr>
          </a:p>
        </p:txBody>
      </p:sp>
      <p:sp>
        <p:nvSpPr>
          <p:cNvPr id="248"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C2CC5D3A-1B92-44E0-B012-1886F0C38E41}" type="slidenum">
              <a:rPr b="0" lang="en-US" sz="1200" spc="-1" strike="noStrike">
                <a:solidFill>
                  <a:schemeClr val="dk1"/>
                </a:solidFill>
                <a:latin typeface="+mn-lt"/>
                <a:ea typeface="+mn-ea"/>
              </a:rPr>
              <a:t>74</a:t>
            </a:fld>
            <a:endParaRPr b="0" lang="en-GB" sz="1200" spc="-1" strike="noStrike">
              <a:solidFill>
                <a:srgbClr val="000000"/>
              </a:solidFill>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sldImg"/>
          </p:nvPr>
        </p:nvSpPr>
        <p:spPr>
          <a:xfrm>
            <a:off x="685800" y="1143000"/>
            <a:ext cx="5486040" cy="3085920"/>
          </a:xfrm>
          <a:prstGeom prst="rect">
            <a:avLst/>
          </a:prstGeom>
          <a:ln w="0">
            <a:noFill/>
          </a:ln>
        </p:spPr>
      </p:sp>
      <p:sp>
        <p:nvSpPr>
          <p:cNvPr id="2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CLARITY-AD trial of lecanemab (van Dyck and colleagues, NEJM 2023). 1,795 participants with biomarker-confirmed early symptomatic Alzheimer’s disease, randomised to lecanemab or placebo for 18 months. Efficacy: 27 percent slowing of decline on CDR Sum of Boxes, with the placebo group ending at 1.66 points worse than baseline and the lecanemab group at 1.21, a difference of minus 0.45 points, p less than 0.001. Safety: ARIA-E rates by APOE genotype: about 5 percent in non-carriers, about 11 percent in heterozygotes, about 33 percent in homozygotes. Overall ARIA-E was 12.6 percent and ARIA-H 17.3 percent. Symptomatic ARIA-E in homozygotes was 9.2 percent. Regulatory: FDA full approval July 2023, EMA approved on appeal in 2025 excluding APOE4 homozygotes, NICE rejected for NHS use August 2024 on cost-effectiveness grounds.</a:t>
            </a:r>
            <a:endParaRPr b="0" lang="en-GB" sz="2000" spc="-1" strike="noStrike">
              <a:solidFill>
                <a:srgbClr val="000000"/>
              </a:solidFill>
              <a:latin typeface="Arial"/>
            </a:endParaRPr>
          </a:p>
        </p:txBody>
      </p:sp>
      <p:sp>
        <p:nvSpPr>
          <p:cNvPr id="251"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402B19A8-5BD5-4FB1-B436-FBE4533659DA}" type="slidenum">
              <a:rPr b="0" lang="en-US" sz="1200" spc="-1" strike="noStrike">
                <a:solidFill>
                  <a:schemeClr val="dk1"/>
                </a:solidFill>
                <a:latin typeface="+mn-lt"/>
                <a:ea typeface="+mn-ea"/>
              </a:rPr>
              <a:t>74</a:t>
            </a:fld>
            <a:endParaRPr b="0" lang="en-GB" sz="1200" spc="-1" strike="noStrike">
              <a:solidFill>
                <a:srgbClr val="000000"/>
              </a:solidFill>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PlaceHolder 1"/>
          <p:cNvSpPr>
            <a:spLocks noGrp="1"/>
          </p:cNvSpPr>
          <p:nvPr>
            <p:ph type="sldImg"/>
          </p:nvPr>
        </p:nvSpPr>
        <p:spPr>
          <a:xfrm>
            <a:off x="685800" y="1143000"/>
            <a:ext cx="5486040" cy="3085920"/>
          </a:xfrm>
          <a:prstGeom prst="rect">
            <a:avLst/>
          </a:prstGeom>
          <a:ln w="0">
            <a:noFill/>
          </a:ln>
        </p:spPr>
      </p:sp>
      <p:sp>
        <p:nvSpPr>
          <p:cNvPr id="2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TRAILBLAZER-ALZ 2 trial of donanemab (Sims and colleagues, JAMA 2023). 1,736 participants with MCI or mild AD over 76 weeks; primary analysis population was 1,182 with low or intermediate tau burden. Donanemab targets pyroglutamate-modified Aβ found only in established plaques; stop-when-cleared design meant patients with negative amyloid PET stopped treatment. Efficacy: 35 percent slowing on iADRS, 36 percent on CDR-SB. 47 percent of donanemab participants had no decline at 1 year versus 29 percent on placebo. Safety: ARIA-E 24 percent (vs 2 percent placebo), ARIA-H 31 percent (vs ~8 percent placebo). Symptomatic ARIA-E 5.8 percent, serious ARIA-E 1.5 percent. Three deaths in donanemab arm attributed to serious ARIA. APOE4 homozygotes had odds ratio 4.57 for ARIA-E versus non-carriers. Regulatory: FDA full approval July 2024, NICE rejected October 2024.</a:t>
            </a:r>
            <a:endParaRPr b="0" lang="en-GB" sz="2000" spc="-1" strike="noStrike">
              <a:solidFill>
                <a:srgbClr val="000000"/>
              </a:solidFill>
              <a:latin typeface="Arial"/>
            </a:endParaRPr>
          </a:p>
        </p:txBody>
      </p:sp>
      <p:sp>
        <p:nvSpPr>
          <p:cNvPr id="254"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6432ECFC-B77F-4E39-BD40-163EB0D4AA6E}" type="slidenum">
              <a:rPr b="0" lang="en-US" sz="1200" spc="-1" strike="noStrike">
                <a:solidFill>
                  <a:schemeClr val="dk1"/>
                </a:solidFill>
                <a:latin typeface="+mn-lt"/>
                <a:ea typeface="+mn-ea"/>
              </a:rPr>
              <a:t>74</a:t>
            </a:fld>
            <a:endParaRPr b="0" lang="en-GB" sz="1200" spc="-1" strike="noStrike">
              <a:solidFill>
                <a:srgbClr val="000000"/>
              </a:solidFill>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sldImg"/>
          </p:nvPr>
        </p:nvSpPr>
        <p:spPr>
          <a:xfrm>
            <a:off x="685800" y="1143000"/>
            <a:ext cx="5486040" cy="3085920"/>
          </a:xfrm>
          <a:prstGeom prst="rect">
            <a:avLst/>
          </a:prstGeom>
          <a:ln w="0">
            <a:noFill/>
          </a:ln>
        </p:spPr>
      </p:sp>
      <p:sp>
        <p:nvSpPr>
          <p:cNvPr id="25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ARIA-E risk by APOE genotype. Lecanemab in CLARITY-AD: non-carriers about 5 percent, heterozygotes about 11 percent, homozygotes about 33 percent. Symptomatic ARIA-E rises from 1.4 percent in non-carriers to 9.2 percent in homozygotes. Donanemab in TRAILBLAZER-ALZ 2: non-carriers about 16 percent, heterozygotes about 23 percent, homozygotes about 41 percent. APOE4 homozygotes are about 2 percent of the population but bear most of the treatment-attributable ARIA risk.</a:t>
            </a:r>
            <a:endParaRPr b="0" lang="en-GB" sz="2000" spc="-1" strike="noStrike">
              <a:solidFill>
                <a:srgbClr val="000000"/>
              </a:solidFill>
              <a:latin typeface="Arial"/>
            </a:endParaRPr>
          </a:p>
        </p:txBody>
      </p:sp>
      <p:sp>
        <p:nvSpPr>
          <p:cNvPr id="257"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E4509E4D-EEEB-4889-B650-81D27CD4521E}"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sldImg"/>
          </p:nvPr>
        </p:nvSpPr>
        <p:spPr>
          <a:xfrm>
            <a:off x="685800" y="1143000"/>
            <a:ext cx="5486040" cy="3085920"/>
          </a:xfrm>
          <a:prstGeom prst="rect">
            <a:avLst/>
          </a:prstGeom>
          <a:ln w="0">
            <a:noFill/>
          </a:ln>
        </p:spPr>
      </p:sp>
      <p:sp>
        <p:nvSpPr>
          <p:cNvPr id="25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ε4 homozygotes are about 2 percent of the population but bear most of the treatment-attributable ARIA risk. Genotype results have implications beyond the individual: family members may infer their own risk, and there are life insurance considerations. The donanemab US label restricts use in homozygotes; the EMA mandates discussion of relative risk. Patients can decline genotyping but must be counselled to the higher-risk assumption.</a:t>
            </a:r>
            <a:endParaRPr b="0" lang="en-GB" sz="2000" spc="-1" strike="noStrike">
              <a:solidFill>
                <a:srgbClr val="000000"/>
              </a:solidFill>
              <a:latin typeface="Arial"/>
            </a:endParaRPr>
          </a:p>
        </p:txBody>
      </p:sp>
      <p:sp>
        <p:nvSpPr>
          <p:cNvPr id="260" name="PlaceHolder 3"/>
          <p:cNvSpPr>
            <a:spLocks noGrp="1"/>
          </p:cNvSpPr>
          <p:nvPr>
            <p:ph type="sldNum" idx="45"/>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082C19DE-B6D4-442E-816C-6EA329A14F44}"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685800" y="1143000"/>
            <a:ext cx="5486040" cy="3085920"/>
          </a:xfrm>
          <a:prstGeom prst="rect">
            <a:avLst/>
          </a:prstGeom>
          <a:ln w="0">
            <a:noFill/>
          </a:ln>
        </p:spPr>
      </p:sp>
      <p:sp>
        <p:nvSpPr>
          <p:cNvPr id="26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Two-track timeline comparing pathways for Mary, 64, presenting with memory concern and a family history of dementia. Memory Assessment Service track: GP referral on day zero, MAS letter day 60, first visit day 90 with MMSE 25, repeat MMSE day 180, clinical diagnosis day 210. Outcome: probable Alzheimer’s disease, no biomarkers, ineligible for disease-modifying therapy, no structured risk-reduction plan. Brain Health Centre track: GP referral day zero, single one-day visit day 42 combining plasma p-tau217, MRI, cardiovascular workup, and lumbar puncture if needed, then active follow-up out to day 365 with a Brain Health Advisor and risk modification. Outcome: biomarker-confirmed diagnosis, blood pressure normalised and statin started, hearing aid referral, social plan, DMT-ready, in research, year-on review booked. Three principles: confirm with biology not exclusion; treat the brain like the heart; be ready for therapy. Footnote: today only one in 800 UK patients with memory symptoms gets a biomarker-confirmed diagnosis.</a:t>
            </a:r>
            <a:endParaRPr b="0" lang="en-GB" sz="2000" spc="-1" strike="noStrike">
              <a:solidFill>
                <a:srgbClr val="000000"/>
              </a:solidFill>
              <a:latin typeface="Arial"/>
            </a:endParaRPr>
          </a:p>
        </p:txBody>
      </p:sp>
      <p:sp>
        <p:nvSpPr>
          <p:cNvPr id="263" name="PlaceHolder 3"/>
          <p:cNvSpPr>
            <a:spLocks noGrp="1"/>
          </p:cNvSpPr>
          <p:nvPr>
            <p:ph type="sldNum" idx="46"/>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993C3A82-BF02-4960-8EFE-0C9AB590ED3E}"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685800" y="1143000"/>
            <a:ext cx="5486040" cy="3085920"/>
          </a:xfrm>
          <a:prstGeom prst="rect">
            <a:avLst/>
          </a:prstGeom>
          <a:ln w="0">
            <a:noFill/>
          </a:ln>
        </p:spPr>
      </p:sp>
      <p:sp>
        <p:nvSpPr>
          <p:cNvPr id="26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Three core partners shown as coloured blocks: Greater Manchester Mental Health NHS Foundation Trust as clinical lead in old-age psychiatry, Manchester University NHS Foundation Trust providing imaging, cardiology, labs and the biobank, and the Alzheimer’s Society providing funding and Brain Health Advisor training. Academic partner: University of Manchester. Six-station one-day pathway: triage with MMSE above 22 and ACE-III above 85, plasma p-tau217 first-line biomarker, same-day MRI, clinic plus cardiovascular check including pulse-wave velocity, CSF if needed (about 20 percent), disclosure with Brain Health Advisor. Phase 2 model goes live Q3 2026. KPIs: 49 days simulated median pathway versus 187 currently, 73 percent reduction in time to diagnosis, about 80 percent spared a lumbar puncture, zero serious LP adverse events to date with about 92 percent acceptance.</a:t>
            </a:r>
            <a:endParaRPr b="0" lang="en-GB" sz="2000" spc="-1" strike="noStrike">
              <a:solidFill>
                <a:srgbClr val="000000"/>
              </a:solidFill>
              <a:latin typeface="Arial"/>
            </a:endParaRPr>
          </a:p>
        </p:txBody>
      </p:sp>
      <p:sp>
        <p:nvSpPr>
          <p:cNvPr id="266" name="PlaceHolder 3"/>
          <p:cNvSpPr>
            <a:spLocks noGrp="1"/>
          </p:cNvSpPr>
          <p:nvPr>
            <p:ph type="sldNum" idx="47"/>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165CB224-8BFA-4E26-A639-4C300E6FCA87}"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685800" y="1143000"/>
            <a:ext cx="5486040" cy="3085920"/>
          </a:xfrm>
          <a:prstGeom prst="rect">
            <a:avLst/>
          </a:prstGeom>
          <a:ln w="0">
            <a:noFill/>
          </a:ln>
        </p:spPr>
      </p:sp>
      <p:sp>
        <p:nvSpPr>
          <p:cNvPr id="2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tabLst>
                <a:tab algn="l" pos="0"/>
              </a:tabLst>
            </a:pPr>
            <a:r>
              <a:rPr b="0" lang="en-GB" sz="2000" spc="-1" strike="noStrike">
                <a:solidFill>
                  <a:srgbClr val="000000"/>
                </a:solidFill>
                <a:latin typeface="Arial"/>
              </a:rPr>
              <a:t>Headline: 45 percent of dementia worldwide is linked to 14 modifiable risk factors (Lancet Commission 2024, Livingston et al). Risk factors organised by life stage with population attributable fractions. Early life: less education, 5 percent. Midlife: hearing loss 7 percent, high LDL cholesterol 7 percent, depression 3 percent, traumatic brain injury 3 percent, physical inactivity 2 percent, smoking 2 percent, diabetes 2 percent, hypertension 2 percent, obesity 1 percent, excessive alcohol 1 percent. Late life: social isolation 5 percent, air pollution 3 percent, vision loss 2 percent. What’s next at MBHC: one-stop blood-first pathway live Q3 2026, first UK site to deploy p-tau217 Elecsys for routine NHS care, Brain Health Advisors trained in motivational interviewing, five-year cohort study with GSK, hub-and-spoke model across Greater Manchester. Why it matters for psychology: pathology starts 20+ years before symptoms; disease-modifying drugs are MHRA-licensed but not yet on NHS, eligibility depends on biomarkers; most modifiable risk factors are psychological and behavioural — hearing aid use, exercise, sleep, social engagement, mood; this is where psychologists work alongside clinicians on the things that actually shift the curve.</a:t>
            </a:r>
            <a:endParaRPr b="0" lang="en-GB" sz="2000" spc="-1" strike="noStrike">
              <a:solidFill>
                <a:srgbClr val="000000"/>
              </a:solidFill>
              <a:latin typeface="Arial"/>
            </a:endParaRPr>
          </a:p>
        </p:txBody>
      </p:sp>
      <p:sp>
        <p:nvSpPr>
          <p:cNvPr id="269" name="PlaceHolder 3"/>
          <p:cNvSpPr>
            <a:spLocks noGrp="1"/>
          </p:cNvSpPr>
          <p:nvPr>
            <p:ph type="sldNum" idx="48"/>
          </p:nvPr>
        </p:nvSpPr>
        <p:spPr>
          <a:xfrm>
            <a:off x="3884760" y="8685360"/>
            <a:ext cx="2971440" cy="458280"/>
          </a:xfrm>
          <a:prstGeom prst="rect">
            <a:avLst/>
          </a:prstGeom>
          <a:noFill/>
          <a:ln w="0">
            <a:noFill/>
          </a:ln>
        </p:spPr>
        <p:txBody>
          <a:bodyPr lIns="91440" rIns="91440" tIns="45720" bIns="45720" anchor="b">
            <a:noAutofit/>
          </a:bodyPr>
          <a:lstStyle>
            <a:lvl1pPr indent="0" algn="r" defTabSz="457200">
              <a:lnSpc>
                <a:spcPct val="100000"/>
              </a:lnSpc>
              <a:buNone/>
              <a:defRPr b="0" lang="en-US" sz="1200" spc="-1" strike="noStrike">
                <a:solidFill>
                  <a:schemeClr val="dk1"/>
                </a:solidFill>
                <a:latin typeface="+mn-lt"/>
                <a:ea typeface="+mn-ea"/>
              </a:defRPr>
            </a:lvl1pPr>
          </a:lstStyle>
          <a:p>
            <a:pPr indent="0" algn="r" defTabSz="457200">
              <a:lnSpc>
                <a:spcPct val="100000"/>
              </a:lnSpc>
              <a:buNone/>
            </a:pPr>
            <a:fld id="{38B58002-446F-4DF9-B9D3-340E31D581A3}" type="slidenum">
              <a:rPr b="0" lang="en-US" sz="1200" spc="-1" strike="noStrike">
                <a:solidFill>
                  <a:schemeClr val="dk1"/>
                </a:solidFill>
                <a:latin typeface="+mn-lt"/>
                <a:ea typeface="+mn-ea"/>
              </a:rPr>
              <a:t>&lt;number&gt;</a:t>
            </a:fld>
            <a:endParaRPr b="0" lang="en-GB"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920"/>
            <a:ext cx="8229240" cy="856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6" name="PlaceHolder 2"/>
          <p:cNvSpPr>
            <a:spLocks noGrp="1"/>
          </p:cNvSpPr>
          <p:nvPr>
            <p:ph type="subTitle"/>
          </p:nvPr>
        </p:nvSpPr>
        <p:spPr>
          <a:xfrm>
            <a:off x="457200" y="1200240"/>
            <a:ext cx="8229240" cy="33940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B55A01B-FF1F-4A8B-8FEE-1423719B18CB}" type="slidenum">
              <a:t>&lt;#&gt;</a:t>
            </a:fld>
          </a:p>
        </p:txBody>
      </p:sp>
      <p:sp>
        <p:nvSpPr>
          <p:cNvPr id="6" name="PlaceHolder 5"/>
          <p:cNvSpPr>
            <a:spLocks noGrp="1"/>
          </p:cNvSpPr>
          <p:nvPr>
            <p:ph type="dt" idx="1"/>
          </p:nvPr>
        </p:nvSpPr>
        <p:spPr/>
        <p:txBody>
          <a:bodyPr/>
          <a:p>
            <a:r>
              <a:rPr lang="en-GB"/>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1B42CB25-FAD6-4BD9-BF04-51D8964C282E}" type="slidenum">
              <a:t>&lt;#&gt;</a:t>
            </a:fld>
          </a:p>
        </p:txBody>
      </p:sp>
      <p:sp>
        <p:nvSpPr>
          <p:cNvPr id="4" name="PlaceHolder 3"/>
          <p:cNvSpPr>
            <a:spLocks noGrp="1"/>
          </p:cNvSpPr>
          <p:nvPr>
            <p:ph type="dt" idx="4"/>
          </p:nvPr>
        </p:nvSpPr>
        <p:spPr/>
        <p:txBody>
          <a:bodyPr/>
          <a:p>
            <a:r>
              <a:rPr lang="en-GB"/>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A16312F1-A2AA-4B76-B56D-CA1BFF477CB2}" type="slidenum">
              <a:t>&lt;#&gt;</a:t>
            </a:fld>
          </a:p>
        </p:txBody>
      </p:sp>
      <p:sp>
        <p:nvSpPr>
          <p:cNvPr id="4" name="PlaceHolder 3"/>
          <p:cNvSpPr>
            <a:spLocks noGrp="1"/>
          </p:cNvSpPr>
          <p:nvPr>
            <p:ph type="dt" idx="7"/>
          </p:nvPr>
        </p:nvSpPr>
        <p:spPr/>
        <p:txBody>
          <a:bodyPr/>
          <a:p>
            <a:r>
              <a:rPr lang="en-GB"/>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05920"/>
            <a:ext cx="8229240" cy="856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3" name="PlaceHolder 2"/>
          <p:cNvSpPr>
            <a:spLocks noGrp="1"/>
          </p:cNvSpPr>
          <p:nvPr>
            <p:ph/>
          </p:nvPr>
        </p:nvSpPr>
        <p:spPr>
          <a:xfrm>
            <a:off x="457200" y="1200240"/>
            <a:ext cx="8229240" cy="3394080"/>
          </a:xfrm>
          <a:prstGeom prst="rect">
            <a:avLst/>
          </a:prstGeom>
          <a:noFill/>
          <a:ln w="0">
            <a:noFill/>
          </a:ln>
        </p:spPr>
        <p:txBody>
          <a:bodyPr lIns="0" rIns="0" tIns="0" bIns="0" anchor="t">
            <a:normAutofit/>
          </a:bodyPr>
          <a:p>
            <a:pPr indent="0">
              <a:spcBef>
                <a:spcPts val="1417"/>
              </a:spcBef>
              <a:buNone/>
            </a:pPr>
            <a:endParaRPr b="0" lang="en-US" sz="24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E17996EC-DB2B-47EA-8F5E-854143A683D1}" type="slidenum">
              <a:t>&lt;#&gt;</a:t>
            </a:fld>
          </a:p>
        </p:txBody>
      </p:sp>
      <p:sp>
        <p:nvSpPr>
          <p:cNvPr id="6" name="PlaceHolder 5"/>
          <p:cNvSpPr>
            <a:spLocks noGrp="1"/>
          </p:cNvSpPr>
          <p:nvPr>
            <p:ph type="dt" idx="10"/>
          </p:nvPr>
        </p:nvSpPr>
        <p:spPr/>
        <p:txBody>
          <a:bodyPr/>
          <a:p>
            <a:r>
              <a:rPr lang="en-GB"/>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8DEA49F7-B4CB-4A57-93BF-2CD123EECF74}" type="slidenum">
              <a:t>&lt;#&gt;</a:t>
            </a:fld>
          </a:p>
        </p:txBody>
      </p:sp>
      <p:sp>
        <p:nvSpPr>
          <p:cNvPr id="4" name="PlaceHolder 3"/>
          <p:cNvSpPr>
            <a:spLocks noGrp="1"/>
          </p:cNvSpPr>
          <p:nvPr>
            <p:ph type="dt" idx="13"/>
          </p:nvPr>
        </p:nvSpPr>
        <p:spPr/>
        <p:txBody>
          <a:bodyPr/>
          <a:p>
            <a:r>
              <a:rPr lang="en-GB"/>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05920"/>
            <a:ext cx="8229240" cy="856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6" name="PlaceHolder 2"/>
          <p:cNvSpPr>
            <a:spLocks noGrp="1"/>
          </p:cNvSpPr>
          <p:nvPr>
            <p:ph/>
          </p:nvPr>
        </p:nvSpPr>
        <p:spPr>
          <a:xfrm>
            <a:off x="457200" y="1200240"/>
            <a:ext cx="4015800" cy="3394080"/>
          </a:xfrm>
          <a:prstGeom prst="rect">
            <a:avLst/>
          </a:prstGeom>
          <a:noFill/>
          <a:ln w="0">
            <a:noFill/>
          </a:ln>
        </p:spPr>
        <p:txBody>
          <a:bodyPr lIns="0" rIns="0" tIns="0" bIns="0" anchor="t">
            <a:normAutofit/>
          </a:bodyPr>
          <a:p>
            <a:pPr indent="0">
              <a:spcBef>
                <a:spcPts val="1417"/>
              </a:spcBef>
              <a:buNone/>
            </a:pPr>
            <a:endParaRPr b="0" lang="en-US" sz="2400" spc="-1" strike="noStrike">
              <a:solidFill>
                <a:schemeClr val="dk1"/>
              </a:solidFill>
              <a:latin typeface="Calibri"/>
            </a:endParaRPr>
          </a:p>
        </p:txBody>
      </p:sp>
      <p:sp>
        <p:nvSpPr>
          <p:cNvPr id="37" name="PlaceHolder 3"/>
          <p:cNvSpPr>
            <a:spLocks noGrp="1"/>
          </p:cNvSpPr>
          <p:nvPr>
            <p:ph/>
          </p:nvPr>
        </p:nvSpPr>
        <p:spPr>
          <a:xfrm>
            <a:off x="4674240" y="1200240"/>
            <a:ext cx="4015800" cy="3394080"/>
          </a:xfrm>
          <a:prstGeom prst="rect">
            <a:avLst/>
          </a:prstGeom>
          <a:noFill/>
          <a:ln w="0">
            <a:noFill/>
          </a:ln>
        </p:spPr>
        <p:txBody>
          <a:bodyPr lIns="0" rIns="0" tIns="0" bIns="0" anchor="t">
            <a:normAutofit/>
          </a:bodyPr>
          <a:p>
            <a:pPr indent="0">
              <a:spcBef>
                <a:spcPts val="1417"/>
              </a:spcBef>
              <a:buNone/>
            </a:pPr>
            <a:endParaRPr b="0" lang="en-US" sz="24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13F64442-7C76-47DA-BCAB-14CE1EAA8166}" type="slidenum">
              <a:t>&lt;#&gt;</a:t>
            </a:fld>
          </a:p>
        </p:txBody>
      </p:sp>
      <p:sp>
        <p:nvSpPr>
          <p:cNvPr id="7" name="PlaceHolder 6"/>
          <p:cNvSpPr>
            <a:spLocks noGrp="1"/>
          </p:cNvSpPr>
          <p:nvPr>
            <p:ph type="dt" idx="16"/>
          </p:nvPr>
        </p:nvSpPr>
        <p:spPr/>
        <p:txBody>
          <a:bodyPr/>
          <a:p>
            <a:r>
              <a:rPr lang="en-GB"/>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22FD8033-A723-47D7-9596-A9478E1BD086}" type="slidenum">
              <a:t>&lt;#&gt;</a:t>
            </a:fld>
          </a:p>
        </p:txBody>
      </p:sp>
      <p:sp>
        <p:nvSpPr>
          <p:cNvPr id="4" name="PlaceHolder 3"/>
          <p:cNvSpPr>
            <a:spLocks noGrp="1"/>
          </p:cNvSpPr>
          <p:nvPr>
            <p:ph type="dt" idx="19"/>
          </p:nvPr>
        </p:nvSpPr>
        <p:spPr/>
        <p:txBody>
          <a:bodyPr/>
          <a:p>
            <a:r>
              <a:rPr lang="en-GB"/>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920"/>
            <a:ext cx="8229240" cy="856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79F9CF73-472B-4619-8DC9-5962D64F731F}" type="slidenum">
              <a:t>&lt;#&gt;</a:t>
            </a:fld>
          </a:p>
        </p:txBody>
      </p:sp>
      <p:sp>
        <p:nvSpPr>
          <p:cNvPr id="5" name="PlaceHolder 4"/>
          <p:cNvSpPr>
            <a:spLocks noGrp="1"/>
          </p:cNvSpPr>
          <p:nvPr>
            <p:ph type="dt" idx="22"/>
          </p:nvPr>
        </p:nvSpPr>
        <p:spPr/>
        <p:txBody>
          <a:bodyPr/>
          <a:p>
            <a:r>
              <a:rPr lang="en-GB"/>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7ED0F8E5-975F-442E-96A0-7D472A6937A1}" type="slidenum">
              <a:t>&lt;#&gt;</a:t>
            </a:fld>
          </a:p>
        </p:txBody>
      </p:sp>
      <p:sp>
        <p:nvSpPr>
          <p:cNvPr id="4" name="PlaceHolder 3"/>
          <p:cNvSpPr>
            <a:spLocks noGrp="1"/>
          </p:cNvSpPr>
          <p:nvPr>
            <p:ph type="dt" idx="25"/>
          </p:nvPr>
        </p:nvSpPr>
        <p:spPr/>
        <p:txBody>
          <a:bodyPr/>
          <a:p>
            <a:r>
              <a:rPr lang="en-GB"/>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3EEE2089-DFD5-4D4A-BD4F-256A5A3B13D4}" type="slidenum">
              <a:t>&lt;#&gt;</a:t>
            </a:fld>
          </a:p>
        </p:txBody>
      </p:sp>
      <p:sp>
        <p:nvSpPr>
          <p:cNvPr id="4" name="PlaceHolder 3"/>
          <p:cNvSpPr>
            <a:spLocks noGrp="1"/>
          </p:cNvSpPr>
          <p:nvPr>
            <p:ph type="dt" idx="28"/>
          </p:nvPr>
        </p:nvSpPr>
        <p:spPr/>
        <p:txBody>
          <a:bodyPr/>
          <a:p>
            <a:r>
              <a:rPr lang="en-GB"/>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0C9B023A-F5FE-49C2-AC3F-BE339A039E59}" type="slidenum">
              <a:t>&lt;#&gt;</a:t>
            </a:fld>
          </a:p>
        </p:txBody>
      </p:sp>
      <p:sp>
        <p:nvSpPr>
          <p:cNvPr id="4" name="PlaceHolder 3"/>
          <p:cNvSpPr>
            <a:spLocks noGrp="1"/>
          </p:cNvSpPr>
          <p:nvPr>
            <p:ph type="dt" idx="31"/>
          </p:nvPr>
        </p:nvSpPr>
        <p:spPr/>
        <p:txBody>
          <a:bodyPr/>
          <a:p>
            <a:r>
              <a:rPr lang="en-GB"/>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1597680"/>
            <a:ext cx="7772040" cy="1102320"/>
          </a:xfrm>
          <a:prstGeom prst="rect">
            <a:avLst/>
          </a:prstGeom>
          <a:noFill/>
          <a:ln w="0">
            <a:noFill/>
          </a:ln>
        </p:spPr>
        <p:txBody>
          <a:bodyPr lIns="91440" rIns="91440" tIns="45720" bIns="45720" anchor="ctr">
            <a:noAutofit/>
          </a:bodyPr>
          <a:p>
            <a:pPr indent="0" algn="ctr" defTabSz="343080">
              <a:lnSpc>
                <a:spcPct val="100000"/>
              </a:lnSpc>
              <a:buNone/>
            </a:pPr>
            <a:r>
              <a:rPr b="0" lang="en-US" sz="3300" spc="-1" strike="noStrike">
                <a:solidFill>
                  <a:schemeClr val="dk1"/>
                </a:solidFill>
                <a:latin typeface="Calibri"/>
              </a:rPr>
              <a:t>Click to edit Master title style</a:t>
            </a:r>
            <a:endParaRPr b="0" lang="en-US" sz="3300" spc="-1" strike="noStrike">
              <a:solidFill>
                <a:schemeClr val="dk1"/>
              </a:solidFill>
              <a:latin typeface="Calibri"/>
            </a:endParaRPr>
          </a:p>
        </p:txBody>
      </p:sp>
      <p:sp>
        <p:nvSpPr>
          <p:cNvPr id="1" name="PlaceHolder 2"/>
          <p:cNvSpPr>
            <a:spLocks noGrp="1"/>
          </p:cNvSpPr>
          <p:nvPr>
            <p:ph type="dt" idx="1"/>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2" name="PlaceHolder 3"/>
          <p:cNvSpPr>
            <a:spLocks noGrp="1"/>
          </p:cNvSpPr>
          <p:nvPr>
            <p:ph type="ftr" idx="2"/>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3" name="PlaceHolder 4"/>
          <p:cNvSpPr>
            <a:spLocks noGrp="1"/>
          </p:cNvSpPr>
          <p:nvPr>
            <p:ph type="sldNum" idx="3"/>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2EC49C5B-FB4B-41C9-B96B-FC542129089E}"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
        <p:nvSpPr>
          <p:cNvPr id="4" name="PlaceHolder 5"/>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400" spc="-1" strike="noStrike">
                <a:solidFill>
                  <a:schemeClr val="dk1"/>
                </a:solidFill>
                <a:latin typeface="Calibri"/>
              </a:rPr>
              <a:t>Click to edit the outline text format</a:t>
            </a:r>
            <a:endParaRPr b="0" lang="en-US" sz="24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1500" spc="-1" strike="noStrike">
                <a:solidFill>
                  <a:schemeClr val="dk1"/>
                </a:solidFill>
                <a:latin typeface="Calibri"/>
              </a:rPr>
              <a:t>Third Outline Level</a:t>
            </a:r>
            <a:endParaRPr b="0" lang="en-US" sz="15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1500" spc="-1" strike="noStrike">
                <a:solidFill>
                  <a:schemeClr val="dk1"/>
                </a:solidFill>
                <a:latin typeface="Calibri"/>
              </a:rPr>
              <a:t>Fourth Outline Level</a:t>
            </a:r>
            <a:endParaRPr b="0" lang="en-US" sz="15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343080">
              <a:lnSpc>
                <a:spcPct val="100000"/>
              </a:lnSpc>
              <a:buNone/>
            </a:pPr>
            <a:r>
              <a:rPr b="0" lang="en-US" sz="3300" spc="-1" strike="noStrike">
                <a:solidFill>
                  <a:schemeClr val="dk1"/>
                </a:solidFill>
                <a:latin typeface="Calibri"/>
              </a:rPr>
              <a:t>Click to edit Master title style</a:t>
            </a:r>
            <a:endParaRPr b="0" lang="en-US" sz="3300" spc="-1" strike="noStrike">
              <a:solidFill>
                <a:schemeClr val="dk1"/>
              </a:solidFill>
              <a:latin typeface="Calibri"/>
            </a:endParaRPr>
          </a:p>
        </p:txBody>
      </p:sp>
      <p:sp>
        <p:nvSpPr>
          <p:cNvPr id="8" name="PlaceHolder 2"/>
          <p:cNvSpPr>
            <a:spLocks noGrp="1"/>
          </p:cNvSpPr>
          <p:nvPr>
            <p:ph type="body"/>
          </p:nvPr>
        </p:nvSpPr>
        <p:spPr>
          <a:xfrm>
            <a:off x="457200" y="1200240"/>
            <a:ext cx="8229240" cy="3394080"/>
          </a:xfrm>
          <a:prstGeom prst="rect">
            <a:avLst/>
          </a:prstGeom>
          <a:noFill/>
          <a:ln w="0">
            <a:noFill/>
          </a:ln>
        </p:spPr>
        <p:txBody>
          <a:bodyPr lIns="91440" rIns="91440" tIns="45720" bIns="45720" anchor="t" vert="eaVert">
            <a:no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68580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Second level</a:t>
            </a:r>
            <a:endParaRPr b="0" lang="en-US" sz="2100" spc="-1" strike="noStrike">
              <a:solidFill>
                <a:schemeClr val="dk1"/>
              </a:solidFill>
              <a:latin typeface="Calibri"/>
            </a:endParaRPr>
          </a:p>
          <a:p>
            <a:pPr lvl="2" marL="1028880" indent="-343080" defTabSz="34308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37160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Fourth level</a:t>
            </a:r>
            <a:endParaRPr b="0" lang="en-US" sz="1500" spc="-1" strike="noStrike">
              <a:solidFill>
                <a:schemeClr val="dk1"/>
              </a:solidFill>
              <a:latin typeface="Calibri"/>
            </a:endParaRPr>
          </a:p>
          <a:p>
            <a:pPr lvl="4" marL="171468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Fifth level</a:t>
            </a:r>
            <a:endParaRPr b="0" lang="en-US" sz="1500" spc="-1" strike="noStrike">
              <a:solidFill>
                <a:schemeClr val="dk1"/>
              </a:solidFill>
              <a:latin typeface="Calibri"/>
            </a:endParaRPr>
          </a:p>
        </p:txBody>
      </p:sp>
      <p:sp>
        <p:nvSpPr>
          <p:cNvPr id="9" name="PlaceHolder 3"/>
          <p:cNvSpPr>
            <a:spLocks noGrp="1"/>
          </p:cNvSpPr>
          <p:nvPr>
            <p:ph type="dt" idx="4"/>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10" name="PlaceHolder 4"/>
          <p:cNvSpPr>
            <a:spLocks noGrp="1"/>
          </p:cNvSpPr>
          <p:nvPr>
            <p:ph type="ftr" idx="5"/>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11" name="PlaceHolder 5"/>
          <p:cNvSpPr>
            <a:spLocks noGrp="1"/>
          </p:cNvSpPr>
          <p:nvPr>
            <p:ph type="sldNum" idx="6"/>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FC2874C4-39BC-4313-A6AC-45A8995D23B3}"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6629400" y="205920"/>
            <a:ext cx="2057040" cy="4388400"/>
          </a:xfrm>
          <a:prstGeom prst="rect">
            <a:avLst/>
          </a:prstGeom>
          <a:noFill/>
          <a:ln w="0">
            <a:noFill/>
          </a:ln>
        </p:spPr>
        <p:txBody>
          <a:bodyPr lIns="91440" rIns="91440" tIns="45720" bIns="45720" anchor="ctr" vert="eaVert">
            <a:noAutofit/>
          </a:bodyPr>
          <a:p>
            <a:pPr indent="0" algn="ctr" defTabSz="343080">
              <a:lnSpc>
                <a:spcPct val="100000"/>
              </a:lnSpc>
              <a:buNone/>
            </a:pPr>
            <a:r>
              <a:rPr b="0" lang="en-US" sz="3300" spc="-1" strike="noStrike">
                <a:solidFill>
                  <a:schemeClr val="dk1"/>
                </a:solidFill>
                <a:latin typeface="Calibri"/>
              </a:rPr>
              <a:t>Click to edit Master title style</a:t>
            </a:r>
            <a:endParaRPr b="0" lang="en-US" sz="3300" spc="-1" strike="noStrike">
              <a:solidFill>
                <a:schemeClr val="dk1"/>
              </a:solidFill>
              <a:latin typeface="Calibri"/>
            </a:endParaRPr>
          </a:p>
        </p:txBody>
      </p:sp>
      <p:sp>
        <p:nvSpPr>
          <p:cNvPr id="13" name="PlaceHolder 2"/>
          <p:cNvSpPr>
            <a:spLocks noGrp="1"/>
          </p:cNvSpPr>
          <p:nvPr>
            <p:ph type="body"/>
          </p:nvPr>
        </p:nvSpPr>
        <p:spPr>
          <a:xfrm>
            <a:off x="457200" y="205920"/>
            <a:ext cx="6019560" cy="4388400"/>
          </a:xfrm>
          <a:prstGeom prst="rect">
            <a:avLst/>
          </a:prstGeom>
          <a:noFill/>
          <a:ln w="0">
            <a:noFill/>
          </a:ln>
        </p:spPr>
        <p:txBody>
          <a:bodyPr lIns="91440" rIns="91440" tIns="45720" bIns="45720" anchor="t" vert="eaVert">
            <a:no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68580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Second level</a:t>
            </a:r>
            <a:endParaRPr b="0" lang="en-US" sz="2100" spc="-1" strike="noStrike">
              <a:solidFill>
                <a:schemeClr val="dk1"/>
              </a:solidFill>
              <a:latin typeface="Calibri"/>
            </a:endParaRPr>
          </a:p>
          <a:p>
            <a:pPr lvl="2" marL="1028880" indent="-343080" defTabSz="34308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37160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Fourth level</a:t>
            </a:r>
            <a:endParaRPr b="0" lang="en-US" sz="1500" spc="-1" strike="noStrike">
              <a:solidFill>
                <a:schemeClr val="dk1"/>
              </a:solidFill>
              <a:latin typeface="Calibri"/>
            </a:endParaRPr>
          </a:p>
          <a:p>
            <a:pPr lvl="4" marL="171468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Fifth level</a:t>
            </a:r>
            <a:endParaRPr b="0" lang="en-US" sz="1500" spc="-1" strike="noStrike">
              <a:solidFill>
                <a:schemeClr val="dk1"/>
              </a:solidFill>
              <a:latin typeface="Calibri"/>
            </a:endParaRPr>
          </a:p>
        </p:txBody>
      </p:sp>
      <p:sp>
        <p:nvSpPr>
          <p:cNvPr id="14" name="PlaceHolder 3"/>
          <p:cNvSpPr>
            <a:spLocks noGrp="1"/>
          </p:cNvSpPr>
          <p:nvPr>
            <p:ph type="dt" idx="7"/>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15" name="PlaceHolder 4"/>
          <p:cNvSpPr>
            <a:spLocks noGrp="1"/>
          </p:cNvSpPr>
          <p:nvPr>
            <p:ph type="ftr" idx="8"/>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16" name="PlaceHolder 5"/>
          <p:cNvSpPr>
            <a:spLocks noGrp="1"/>
          </p:cNvSpPr>
          <p:nvPr>
            <p:ph type="sldNum" idx="9"/>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137E74C1-2428-4564-9EEF-C0E247B8CA85}"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343080">
              <a:lnSpc>
                <a:spcPct val="100000"/>
              </a:lnSpc>
              <a:buNone/>
            </a:pPr>
            <a:r>
              <a:rPr b="0" lang="en-US" sz="3300" spc="-1" strike="noStrike">
                <a:solidFill>
                  <a:schemeClr val="dk1"/>
                </a:solidFill>
                <a:latin typeface="Calibri"/>
              </a:rPr>
              <a:t>Click to edit Master title style</a:t>
            </a:r>
            <a:endParaRPr b="0" lang="en-US" sz="3300" spc="-1" strike="noStrike">
              <a:solidFill>
                <a:schemeClr val="dk1"/>
              </a:solidFill>
              <a:latin typeface="Calibri"/>
            </a:endParaRPr>
          </a:p>
        </p:txBody>
      </p:sp>
      <p:sp>
        <p:nvSpPr>
          <p:cNvPr id="18" name="PlaceHolder 2"/>
          <p:cNvSpPr>
            <a:spLocks noGrp="1"/>
          </p:cNvSpPr>
          <p:nvPr>
            <p:ph type="body"/>
          </p:nvPr>
        </p:nvSpPr>
        <p:spPr>
          <a:xfrm>
            <a:off x="457200" y="1200240"/>
            <a:ext cx="8229240" cy="3394080"/>
          </a:xfrm>
          <a:prstGeom prst="rect">
            <a:avLst/>
          </a:prstGeom>
          <a:noFill/>
          <a:ln w="0">
            <a:noFill/>
          </a:ln>
        </p:spPr>
        <p:txBody>
          <a:bodyPr lIns="91440" rIns="91440" tIns="45720" bIns="45720" anchor="t">
            <a:no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68580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Second level</a:t>
            </a:r>
            <a:endParaRPr b="0" lang="en-US" sz="2100" spc="-1" strike="noStrike">
              <a:solidFill>
                <a:schemeClr val="dk1"/>
              </a:solidFill>
              <a:latin typeface="Calibri"/>
            </a:endParaRPr>
          </a:p>
          <a:p>
            <a:pPr lvl="2" marL="1028880" indent="-343080" defTabSz="34308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37160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Fourth level</a:t>
            </a:r>
            <a:endParaRPr b="0" lang="en-US" sz="1500" spc="-1" strike="noStrike">
              <a:solidFill>
                <a:schemeClr val="dk1"/>
              </a:solidFill>
              <a:latin typeface="Calibri"/>
            </a:endParaRPr>
          </a:p>
          <a:p>
            <a:pPr lvl="4" marL="171468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Fifth level</a:t>
            </a:r>
            <a:endParaRPr b="0" lang="en-US" sz="1500" spc="-1" strike="noStrike">
              <a:solidFill>
                <a:schemeClr val="dk1"/>
              </a:solidFill>
              <a:latin typeface="Calibri"/>
            </a:endParaRPr>
          </a:p>
        </p:txBody>
      </p:sp>
      <p:sp>
        <p:nvSpPr>
          <p:cNvPr id="19" name="PlaceHolder 3"/>
          <p:cNvSpPr>
            <a:spLocks noGrp="1"/>
          </p:cNvSpPr>
          <p:nvPr>
            <p:ph type="dt" idx="10"/>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20" name="PlaceHolder 4"/>
          <p:cNvSpPr>
            <a:spLocks noGrp="1"/>
          </p:cNvSpPr>
          <p:nvPr>
            <p:ph type="ftr" idx="11"/>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21" name="PlaceHolder 5"/>
          <p:cNvSpPr>
            <a:spLocks noGrp="1"/>
          </p:cNvSpPr>
          <p:nvPr>
            <p:ph type="sldNum" idx="12"/>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C26FA9C8-7921-4003-A197-309A65306794}"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722160" y="3305160"/>
            <a:ext cx="7772040" cy="1021320"/>
          </a:xfrm>
          <a:prstGeom prst="rect">
            <a:avLst/>
          </a:prstGeom>
          <a:noFill/>
          <a:ln w="0">
            <a:noFill/>
          </a:ln>
        </p:spPr>
        <p:txBody>
          <a:bodyPr lIns="91440" rIns="91440" tIns="45720" bIns="45720" anchor="t">
            <a:noAutofit/>
          </a:bodyPr>
          <a:p>
            <a:pPr indent="0" defTabSz="343080">
              <a:lnSpc>
                <a:spcPct val="100000"/>
              </a:lnSpc>
              <a:buNone/>
            </a:pPr>
            <a:r>
              <a:rPr b="1" lang="en-US" sz="3000" spc="-1" strike="noStrike" cap="all">
                <a:solidFill>
                  <a:schemeClr val="dk1"/>
                </a:solidFill>
                <a:latin typeface="Calibri"/>
              </a:rPr>
              <a:t>Click to edit Master title style</a:t>
            </a:r>
            <a:endParaRPr b="0" lang="en-US" sz="3000" spc="-1" strike="noStrike">
              <a:solidFill>
                <a:schemeClr val="dk1"/>
              </a:solidFill>
              <a:latin typeface="Calibri"/>
            </a:endParaRPr>
          </a:p>
        </p:txBody>
      </p:sp>
      <p:sp>
        <p:nvSpPr>
          <p:cNvPr id="25" name="PlaceHolder 2"/>
          <p:cNvSpPr>
            <a:spLocks noGrp="1"/>
          </p:cNvSpPr>
          <p:nvPr>
            <p:ph type="body"/>
          </p:nvPr>
        </p:nvSpPr>
        <p:spPr>
          <a:xfrm>
            <a:off x="722160" y="2180160"/>
            <a:ext cx="7772040" cy="1124640"/>
          </a:xfrm>
          <a:prstGeom prst="rect">
            <a:avLst/>
          </a:prstGeom>
          <a:noFill/>
          <a:ln w="0">
            <a:noFill/>
          </a:ln>
        </p:spPr>
        <p:txBody>
          <a:bodyPr lIns="91440" rIns="91440" tIns="45720" bIns="45720" anchor="b">
            <a:noAutofit/>
          </a:bodyPr>
          <a:p>
            <a:pPr indent="0" defTabSz="343080">
              <a:lnSpc>
                <a:spcPct val="100000"/>
              </a:lnSpc>
              <a:spcBef>
                <a:spcPts val="300"/>
              </a:spcBef>
              <a:buNone/>
              <a:tabLst>
                <a:tab algn="l" pos="0"/>
              </a:tabLst>
            </a:pPr>
            <a:r>
              <a:rPr b="0" lang="en-US" sz="1500" spc="-1" strike="noStrike">
                <a:solidFill>
                  <a:schemeClr val="dk1">
                    <a:tint val="75000"/>
                  </a:schemeClr>
                </a:solidFill>
                <a:latin typeface="Calibri"/>
              </a:rPr>
              <a:t>Click to edit Master text styles</a:t>
            </a:r>
            <a:endParaRPr b="0" lang="en-US" sz="1500" spc="-1" strike="noStrike">
              <a:solidFill>
                <a:schemeClr val="dk1"/>
              </a:solidFill>
              <a:latin typeface="Calibri"/>
            </a:endParaRPr>
          </a:p>
        </p:txBody>
      </p:sp>
      <p:sp>
        <p:nvSpPr>
          <p:cNvPr id="26" name="PlaceHolder 3"/>
          <p:cNvSpPr>
            <a:spLocks noGrp="1"/>
          </p:cNvSpPr>
          <p:nvPr>
            <p:ph type="dt" idx="13"/>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27" name="PlaceHolder 4"/>
          <p:cNvSpPr>
            <a:spLocks noGrp="1"/>
          </p:cNvSpPr>
          <p:nvPr>
            <p:ph type="ftr" idx="14"/>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28" name="PlaceHolder 5"/>
          <p:cNvSpPr>
            <a:spLocks noGrp="1"/>
          </p:cNvSpPr>
          <p:nvPr>
            <p:ph type="sldNum" idx="15"/>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85EE0821-268A-40E6-AA19-D129EE575C05}"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343080">
              <a:lnSpc>
                <a:spcPct val="100000"/>
              </a:lnSpc>
              <a:buNone/>
            </a:pPr>
            <a:r>
              <a:rPr b="0" lang="en-US" sz="3300" spc="-1" strike="noStrike">
                <a:solidFill>
                  <a:schemeClr val="dk1"/>
                </a:solidFill>
                <a:latin typeface="Calibri"/>
              </a:rPr>
              <a:t>Click to edit Master title style</a:t>
            </a:r>
            <a:endParaRPr b="0" lang="en-US" sz="3300" spc="-1" strike="noStrike">
              <a:solidFill>
                <a:schemeClr val="dk1"/>
              </a:solidFill>
              <a:latin typeface="Calibri"/>
            </a:endParaRPr>
          </a:p>
        </p:txBody>
      </p:sp>
      <p:sp>
        <p:nvSpPr>
          <p:cNvPr id="30" name="PlaceHolder 2"/>
          <p:cNvSpPr>
            <a:spLocks noGrp="1"/>
          </p:cNvSpPr>
          <p:nvPr>
            <p:ph type="body"/>
          </p:nvPr>
        </p:nvSpPr>
        <p:spPr>
          <a:xfrm>
            <a:off x="457200" y="1200240"/>
            <a:ext cx="4038120" cy="3394080"/>
          </a:xfrm>
          <a:prstGeom prst="rect">
            <a:avLst/>
          </a:prstGeom>
          <a:noFill/>
          <a:ln w="0">
            <a:noFill/>
          </a:ln>
        </p:spPr>
        <p:txBody>
          <a:bodyPr lIns="91440" rIns="91440" tIns="45720" bIns="45720" anchor="t">
            <a:noAutofit/>
          </a:bodyPr>
          <a:p>
            <a:pPr marL="34308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Click to edit Master text styles</a:t>
            </a:r>
            <a:endParaRPr b="0" lang="en-US" sz="2100" spc="-1" strike="noStrike">
              <a:solidFill>
                <a:schemeClr val="dk1"/>
              </a:solidFill>
              <a:latin typeface="Calibri"/>
            </a:endParaRPr>
          </a:p>
          <a:p>
            <a:pPr lvl="1" marL="685800" indent="-343080" defTabSz="343080">
              <a:lnSpc>
                <a:spcPct val="100000"/>
              </a:lnSpc>
              <a:spcBef>
                <a:spcPts val="360"/>
              </a:spcBef>
              <a:buClr>
                <a:srgbClr val="000000"/>
              </a:buClr>
              <a:buFont typeface="Arial"/>
              <a:buChar char="–"/>
            </a:pPr>
            <a:r>
              <a:rPr b="0" lang="en-US" sz="1800" spc="-1" strike="noStrike">
                <a:solidFill>
                  <a:schemeClr val="dk1"/>
                </a:solidFill>
                <a:latin typeface="Calibri"/>
              </a:rPr>
              <a:t>Second level</a:t>
            </a:r>
            <a:endParaRPr b="0" lang="en-US" sz="1800" spc="-1" strike="noStrike">
              <a:solidFill>
                <a:schemeClr val="dk1"/>
              </a:solidFill>
              <a:latin typeface="Calibri"/>
            </a:endParaRPr>
          </a:p>
          <a:p>
            <a:pPr lvl="2" marL="102888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Third level</a:t>
            </a:r>
            <a:endParaRPr b="0" lang="en-US" sz="1500" spc="-1" strike="noStrike">
              <a:solidFill>
                <a:schemeClr val="dk1"/>
              </a:solidFill>
              <a:latin typeface="Calibri"/>
            </a:endParaRPr>
          </a:p>
          <a:p>
            <a:pPr lvl="3" marL="1371600" indent="-343080" defTabSz="343080">
              <a:lnSpc>
                <a:spcPct val="100000"/>
              </a:lnSpc>
              <a:spcBef>
                <a:spcPts val="269"/>
              </a:spcBef>
              <a:buClr>
                <a:srgbClr val="000000"/>
              </a:buClr>
              <a:buFont typeface="Arial"/>
              <a:buChar char="–"/>
            </a:pPr>
            <a:r>
              <a:rPr b="0" lang="en-US" sz="1350" spc="-1" strike="noStrike">
                <a:solidFill>
                  <a:schemeClr val="dk1"/>
                </a:solidFill>
                <a:latin typeface="Calibri"/>
              </a:rPr>
              <a:t>Fourth level</a:t>
            </a:r>
            <a:endParaRPr b="0" lang="en-US" sz="1350" spc="-1" strike="noStrike">
              <a:solidFill>
                <a:schemeClr val="dk1"/>
              </a:solidFill>
              <a:latin typeface="Calibri"/>
            </a:endParaRPr>
          </a:p>
          <a:p>
            <a:pPr lvl="4" marL="1714680" indent="-343080" defTabSz="343080">
              <a:lnSpc>
                <a:spcPct val="100000"/>
              </a:lnSpc>
              <a:spcBef>
                <a:spcPts val="269"/>
              </a:spcBef>
              <a:buClr>
                <a:srgbClr val="000000"/>
              </a:buClr>
              <a:buFont typeface="Arial"/>
              <a:buChar char="»"/>
            </a:pPr>
            <a:r>
              <a:rPr b="0" lang="en-US" sz="1350" spc="-1" strike="noStrike">
                <a:solidFill>
                  <a:schemeClr val="dk1"/>
                </a:solidFill>
                <a:latin typeface="Calibri"/>
              </a:rPr>
              <a:t>Fifth level</a:t>
            </a:r>
            <a:endParaRPr b="0" lang="en-US" sz="1350" spc="-1" strike="noStrike">
              <a:solidFill>
                <a:schemeClr val="dk1"/>
              </a:solidFill>
              <a:latin typeface="Calibri"/>
            </a:endParaRPr>
          </a:p>
        </p:txBody>
      </p:sp>
      <p:sp>
        <p:nvSpPr>
          <p:cNvPr id="31" name="PlaceHolder 3"/>
          <p:cNvSpPr>
            <a:spLocks noGrp="1"/>
          </p:cNvSpPr>
          <p:nvPr>
            <p:ph type="body"/>
          </p:nvPr>
        </p:nvSpPr>
        <p:spPr>
          <a:xfrm>
            <a:off x="4648320" y="1200240"/>
            <a:ext cx="4038120" cy="3394080"/>
          </a:xfrm>
          <a:prstGeom prst="rect">
            <a:avLst/>
          </a:prstGeom>
          <a:noFill/>
          <a:ln w="0">
            <a:noFill/>
          </a:ln>
        </p:spPr>
        <p:txBody>
          <a:bodyPr lIns="91440" rIns="91440" tIns="45720" bIns="45720" anchor="t">
            <a:noAutofit/>
          </a:bodyPr>
          <a:p>
            <a:pPr marL="34308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Click to edit Master text styles</a:t>
            </a:r>
            <a:endParaRPr b="0" lang="en-US" sz="2100" spc="-1" strike="noStrike">
              <a:solidFill>
                <a:schemeClr val="dk1"/>
              </a:solidFill>
              <a:latin typeface="Calibri"/>
            </a:endParaRPr>
          </a:p>
          <a:p>
            <a:pPr lvl="1" marL="685800" indent="-343080" defTabSz="343080">
              <a:lnSpc>
                <a:spcPct val="100000"/>
              </a:lnSpc>
              <a:spcBef>
                <a:spcPts val="360"/>
              </a:spcBef>
              <a:buClr>
                <a:srgbClr val="000000"/>
              </a:buClr>
              <a:buFont typeface="Arial"/>
              <a:buChar char="–"/>
            </a:pPr>
            <a:r>
              <a:rPr b="0" lang="en-US" sz="1800" spc="-1" strike="noStrike">
                <a:solidFill>
                  <a:schemeClr val="dk1"/>
                </a:solidFill>
                <a:latin typeface="Calibri"/>
              </a:rPr>
              <a:t>Second level</a:t>
            </a:r>
            <a:endParaRPr b="0" lang="en-US" sz="1800" spc="-1" strike="noStrike">
              <a:solidFill>
                <a:schemeClr val="dk1"/>
              </a:solidFill>
              <a:latin typeface="Calibri"/>
            </a:endParaRPr>
          </a:p>
          <a:p>
            <a:pPr lvl="2" marL="102888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Third level</a:t>
            </a:r>
            <a:endParaRPr b="0" lang="en-US" sz="1500" spc="-1" strike="noStrike">
              <a:solidFill>
                <a:schemeClr val="dk1"/>
              </a:solidFill>
              <a:latin typeface="Calibri"/>
            </a:endParaRPr>
          </a:p>
          <a:p>
            <a:pPr lvl="3" marL="1371600" indent="-343080" defTabSz="343080">
              <a:lnSpc>
                <a:spcPct val="100000"/>
              </a:lnSpc>
              <a:spcBef>
                <a:spcPts val="269"/>
              </a:spcBef>
              <a:buClr>
                <a:srgbClr val="000000"/>
              </a:buClr>
              <a:buFont typeface="Arial"/>
              <a:buChar char="–"/>
            </a:pPr>
            <a:r>
              <a:rPr b="0" lang="en-US" sz="1350" spc="-1" strike="noStrike">
                <a:solidFill>
                  <a:schemeClr val="dk1"/>
                </a:solidFill>
                <a:latin typeface="Calibri"/>
              </a:rPr>
              <a:t>Fourth level</a:t>
            </a:r>
            <a:endParaRPr b="0" lang="en-US" sz="1350" spc="-1" strike="noStrike">
              <a:solidFill>
                <a:schemeClr val="dk1"/>
              </a:solidFill>
              <a:latin typeface="Calibri"/>
            </a:endParaRPr>
          </a:p>
          <a:p>
            <a:pPr lvl="4" marL="1714680" indent="-343080" defTabSz="343080">
              <a:lnSpc>
                <a:spcPct val="100000"/>
              </a:lnSpc>
              <a:spcBef>
                <a:spcPts val="269"/>
              </a:spcBef>
              <a:buClr>
                <a:srgbClr val="000000"/>
              </a:buClr>
              <a:buFont typeface="Arial"/>
              <a:buChar char="»"/>
            </a:pPr>
            <a:r>
              <a:rPr b="0" lang="en-US" sz="1350" spc="-1" strike="noStrike">
                <a:solidFill>
                  <a:schemeClr val="dk1"/>
                </a:solidFill>
                <a:latin typeface="Calibri"/>
              </a:rPr>
              <a:t>Fifth level</a:t>
            </a:r>
            <a:endParaRPr b="0" lang="en-US" sz="1350" spc="-1" strike="noStrike">
              <a:solidFill>
                <a:schemeClr val="dk1"/>
              </a:solidFill>
              <a:latin typeface="Calibri"/>
            </a:endParaRPr>
          </a:p>
        </p:txBody>
      </p:sp>
      <p:sp>
        <p:nvSpPr>
          <p:cNvPr id="32" name="PlaceHolder 4"/>
          <p:cNvSpPr>
            <a:spLocks noGrp="1"/>
          </p:cNvSpPr>
          <p:nvPr>
            <p:ph type="dt" idx="16"/>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33" name="PlaceHolder 5"/>
          <p:cNvSpPr>
            <a:spLocks noGrp="1"/>
          </p:cNvSpPr>
          <p:nvPr>
            <p:ph type="ftr" idx="17"/>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34" name="PlaceHolder 6"/>
          <p:cNvSpPr>
            <a:spLocks noGrp="1"/>
          </p:cNvSpPr>
          <p:nvPr>
            <p:ph type="sldNum" idx="18"/>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61D3436A-4FC0-42DD-9CAC-217B7B840463}"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343080">
              <a:lnSpc>
                <a:spcPct val="100000"/>
              </a:lnSpc>
              <a:buNone/>
            </a:pPr>
            <a:r>
              <a:rPr b="0" lang="en-US" sz="3300" spc="-1" strike="noStrike">
                <a:solidFill>
                  <a:schemeClr val="dk1"/>
                </a:solidFill>
                <a:latin typeface="Calibri"/>
              </a:rPr>
              <a:t>Click to edit Master title style</a:t>
            </a:r>
            <a:endParaRPr b="0" lang="en-US" sz="3300" spc="-1" strike="noStrike">
              <a:solidFill>
                <a:schemeClr val="dk1"/>
              </a:solidFill>
              <a:latin typeface="Calibri"/>
            </a:endParaRPr>
          </a:p>
        </p:txBody>
      </p:sp>
      <p:sp>
        <p:nvSpPr>
          <p:cNvPr id="39" name="PlaceHolder 2"/>
          <p:cNvSpPr>
            <a:spLocks noGrp="1"/>
          </p:cNvSpPr>
          <p:nvPr>
            <p:ph type="body"/>
          </p:nvPr>
        </p:nvSpPr>
        <p:spPr>
          <a:xfrm>
            <a:off x="457200" y="1151280"/>
            <a:ext cx="4039920" cy="479520"/>
          </a:xfrm>
          <a:prstGeom prst="rect">
            <a:avLst/>
          </a:prstGeom>
          <a:noFill/>
          <a:ln w="0">
            <a:noFill/>
          </a:ln>
        </p:spPr>
        <p:txBody>
          <a:bodyPr lIns="91440" rIns="91440" tIns="45720" bIns="45720" anchor="b">
            <a:noAutofit/>
          </a:bodyPr>
          <a:p>
            <a:pPr indent="0" defTabSz="343080">
              <a:lnSpc>
                <a:spcPct val="100000"/>
              </a:lnSpc>
              <a:spcBef>
                <a:spcPts val="360"/>
              </a:spcBef>
              <a:buNone/>
              <a:tabLst>
                <a:tab algn="l" pos="0"/>
              </a:tabLst>
            </a:pPr>
            <a:r>
              <a:rPr b="1" lang="en-US" sz="1800" spc="-1" strike="noStrike">
                <a:solidFill>
                  <a:schemeClr val="dk1"/>
                </a:solidFill>
                <a:latin typeface="Calibri"/>
              </a:rPr>
              <a:t>Click to edit Master text styles</a:t>
            </a:r>
            <a:endParaRPr b="0" lang="en-US" sz="1800" spc="-1" strike="noStrike">
              <a:solidFill>
                <a:schemeClr val="dk1"/>
              </a:solidFill>
              <a:latin typeface="Calibri"/>
            </a:endParaRPr>
          </a:p>
        </p:txBody>
      </p:sp>
      <p:sp>
        <p:nvSpPr>
          <p:cNvPr id="40" name="PlaceHolder 3"/>
          <p:cNvSpPr>
            <a:spLocks noGrp="1"/>
          </p:cNvSpPr>
          <p:nvPr>
            <p:ph type="body"/>
          </p:nvPr>
        </p:nvSpPr>
        <p:spPr>
          <a:xfrm>
            <a:off x="457200" y="1631160"/>
            <a:ext cx="4039920" cy="2963160"/>
          </a:xfrm>
          <a:prstGeom prst="rect">
            <a:avLst/>
          </a:prstGeom>
          <a:noFill/>
          <a:ln w="0">
            <a:noFill/>
          </a:ln>
        </p:spPr>
        <p:txBody>
          <a:bodyPr lIns="91440" rIns="91440" tIns="45720" bIns="45720" anchor="t">
            <a:noAutofit/>
          </a:bodyPr>
          <a:p>
            <a:pPr marL="343080" indent="-343080" defTabSz="343080">
              <a:lnSpc>
                <a:spcPct val="100000"/>
              </a:lnSpc>
              <a:spcBef>
                <a:spcPts val="360"/>
              </a:spcBef>
              <a:buClr>
                <a:srgbClr val="000000"/>
              </a:buClr>
              <a:buFont typeface="Arial"/>
              <a:buChar char="•"/>
            </a:pPr>
            <a:r>
              <a:rPr b="0" lang="en-US" sz="1800" spc="-1" strike="noStrike">
                <a:solidFill>
                  <a:schemeClr val="dk1"/>
                </a:solidFill>
                <a:latin typeface="Calibri"/>
              </a:rPr>
              <a:t>Click to edit Master text styles</a:t>
            </a:r>
            <a:endParaRPr b="0" lang="en-US" sz="1800" spc="-1" strike="noStrike">
              <a:solidFill>
                <a:schemeClr val="dk1"/>
              </a:solidFill>
              <a:latin typeface="Calibri"/>
            </a:endParaRPr>
          </a:p>
          <a:p>
            <a:pPr lvl="1" marL="68580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Second level</a:t>
            </a:r>
            <a:endParaRPr b="0" lang="en-US" sz="1500" spc="-1" strike="noStrike">
              <a:solidFill>
                <a:schemeClr val="dk1"/>
              </a:solidFill>
              <a:latin typeface="Calibri"/>
            </a:endParaRPr>
          </a:p>
          <a:p>
            <a:pPr lvl="2" marL="1028880" indent="-343080" defTabSz="343080">
              <a:lnSpc>
                <a:spcPct val="100000"/>
              </a:lnSpc>
              <a:spcBef>
                <a:spcPts val="269"/>
              </a:spcBef>
              <a:buClr>
                <a:srgbClr val="000000"/>
              </a:buClr>
              <a:buFont typeface="Arial"/>
              <a:buChar char="•"/>
            </a:pPr>
            <a:r>
              <a:rPr b="0" lang="en-US" sz="1350" spc="-1" strike="noStrike">
                <a:solidFill>
                  <a:schemeClr val="dk1"/>
                </a:solidFill>
                <a:latin typeface="Calibri"/>
              </a:rPr>
              <a:t>Third level</a:t>
            </a:r>
            <a:endParaRPr b="0" lang="en-US" sz="1350" spc="-1" strike="noStrike">
              <a:solidFill>
                <a:schemeClr val="dk1"/>
              </a:solidFill>
              <a:latin typeface="Calibri"/>
            </a:endParaRPr>
          </a:p>
          <a:p>
            <a:pPr lvl="3" marL="1371600" indent="-343080" defTabSz="343080">
              <a:lnSpc>
                <a:spcPct val="100000"/>
              </a:lnSpc>
              <a:spcBef>
                <a:spcPts val="241"/>
              </a:spcBef>
              <a:buClr>
                <a:srgbClr val="000000"/>
              </a:buClr>
              <a:buFont typeface="Arial"/>
              <a:buChar char="–"/>
            </a:pPr>
            <a:r>
              <a:rPr b="0" lang="en-US" sz="1200" spc="-1" strike="noStrike">
                <a:solidFill>
                  <a:schemeClr val="dk1"/>
                </a:solidFill>
                <a:latin typeface="Calibri"/>
              </a:rPr>
              <a:t>Fourth level</a:t>
            </a:r>
            <a:endParaRPr b="0" lang="en-US" sz="1200" spc="-1" strike="noStrike">
              <a:solidFill>
                <a:schemeClr val="dk1"/>
              </a:solidFill>
              <a:latin typeface="Calibri"/>
            </a:endParaRPr>
          </a:p>
          <a:p>
            <a:pPr lvl="4" marL="1714680" indent="-343080" defTabSz="343080">
              <a:lnSpc>
                <a:spcPct val="100000"/>
              </a:lnSpc>
              <a:spcBef>
                <a:spcPts val="241"/>
              </a:spcBef>
              <a:buClr>
                <a:srgbClr val="000000"/>
              </a:buClr>
              <a:buFont typeface="Arial"/>
              <a:buChar char="»"/>
            </a:pPr>
            <a:r>
              <a:rPr b="0" lang="en-US" sz="1200" spc="-1" strike="noStrike">
                <a:solidFill>
                  <a:schemeClr val="dk1"/>
                </a:solidFill>
                <a:latin typeface="Calibri"/>
              </a:rPr>
              <a:t>Fifth level</a:t>
            </a:r>
            <a:endParaRPr b="0" lang="en-US" sz="1200" spc="-1" strike="noStrike">
              <a:solidFill>
                <a:schemeClr val="dk1"/>
              </a:solidFill>
              <a:latin typeface="Calibri"/>
            </a:endParaRPr>
          </a:p>
        </p:txBody>
      </p:sp>
      <p:sp>
        <p:nvSpPr>
          <p:cNvPr id="41" name="PlaceHolder 4"/>
          <p:cNvSpPr>
            <a:spLocks noGrp="1"/>
          </p:cNvSpPr>
          <p:nvPr>
            <p:ph type="body"/>
          </p:nvPr>
        </p:nvSpPr>
        <p:spPr>
          <a:xfrm>
            <a:off x="4645080" y="1151280"/>
            <a:ext cx="4041360" cy="479520"/>
          </a:xfrm>
          <a:prstGeom prst="rect">
            <a:avLst/>
          </a:prstGeom>
          <a:noFill/>
          <a:ln w="0">
            <a:noFill/>
          </a:ln>
        </p:spPr>
        <p:txBody>
          <a:bodyPr lIns="91440" rIns="91440" tIns="45720" bIns="45720" anchor="b">
            <a:noAutofit/>
          </a:bodyPr>
          <a:p>
            <a:pPr indent="0" defTabSz="343080">
              <a:lnSpc>
                <a:spcPct val="100000"/>
              </a:lnSpc>
              <a:spcBef>
                <a:spcPts val="360"/>
              </a:spcBef>
              <a:buNone/>
              <a:tabLst>
                <a:tab algn="l" pos="0"/>
              </a:tabLst>
            </a:pPr>
            <a:r>
              <a:rPr b="1" lang="en-US" sz="1800" spc="-1" strike="noStrike">
                <a:solidFill>
                  <a:schemeClr val="dk1"/>
                </a:solidFill>
                <a:latin typeface="Calibri"/>
              </a:rPr>
              <a:t>Click to edit Master text styles</a:t>
            </a:r>
            <a:endParaRPr b="0" lang="en-US" sz="1800" spc="-1" strike="noStrike">
              <a:solidFill>
                <a:schemeClr val="dk1"/>
              </a:solidFill>
              <a:latin typeface="Calibri"/>
            </a:endParaRPr>
          </a:p>
        </p:txBody>
      </p:sp>
      <p:sp>
        <p:nvSpPr>
          <p:cNvPr id="42" name="PlaceHolder 5"/>
          <p:cNvSpPr>
            <a:spLocks noGrp="1"/>
          </p:cNvSpPr>
          <p:nvPr>
            <p:ph type="body"/>
          </p:nvPr>
        </p:nvSpPr>
        <p:spPr>
          <a:xfrm>
            <a:off x="4645080" y="1631160"/>
            <a:ext cx="4041360" cy="2963160"/>
          </a:xfrm>
          <a:prstGeom prst="rect">
            <a:avLst/>
          </a:prstGeom>
          <a:noFill/>
          <a:ln w="0">
            <a:noFill/>
          </a:ln>
        </p:spPr>
        <p:txBody>
          <a:bodyPr lIns="91440" rIns="91440" tIns="45720" bIns="45720" anchor="t">
            <a:noAutofit/>
          </a:bodyPr>
          <a:p>
            <a:pPr marL="343080" indent="-343080" defTabSz="343080">
              <a:lnSpc>
                <a:spcPct val="100000"/>
              </a:lnSpc>
              <a:spcBef>
                <a:spcPts val="360"/>
              </a:spcBef>
              <a:buClr>
                <a:srgbClr val="000000"/>
              </a:buClr>
              <a:buFont typeface="Arial"/>
              <a:buChar char="•"/>
            </a:pPr>
            <a:r>
              <a:rPr b="0" lang="en-US" sz="1800" spc="-1" strike="noStrike">
                <a:solidFill>
                  <a:schemeClr val="dk1"/>
                </a:solidFill>
                <a:latin typeface="Calibri"/>
              </a:rPr>
              <a:t>Click to edit Master text styles</a:t>
            </a:r>
            <a:endParaRPr b="0" lang="en-US" sz="1800" spc="-1" strike="noStrike">
              <a:solidFill>
                <a:schemeClr val="dk1"/>
              </a:solidFill>
              <a:latin typeface="Calibri"/>
            </a:endParaRPr>
          </a:p>
          <a:p>
            <a:pPr lvl="1" marL="68580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Second level</a:t>
            </a:r>
            <a:endParaRPr b="0" lang="en-US" sz="1500" spc="-1" strike="noStrike">
              <a:solidFill>
                <a:schemeClr val="dk1"/>
              </a:solidFill>
              <a:latin typeface="Calibri"/>
            </a:endParaRPr>
          </a:p>
          <a:p>
            <a:pPr lvl="2" marL="1028880" indent="-343080" defTabSz="343080">
              <a:lnSpc>
                <a:spcPct val="100000"/>
              </a:lnSpc>
              <a:spcBef>
                <a:spcPts val="269"/>
              </a:spcBef>
              <a:buClr>
                <a:srgbClr val="000000"/>
              </a:buClr>
              <a:buFont typeface="Arial"/>
              <a:buChar char="•"/>
            </a:pPr>
            <a:r>
              <a:rPr b="0" lang="en-US" sz="1350" spc="-1" strike="noStrike">
                <a:solidFill>
                  <a:schemeClr val="dk1"/>
                </a:solidFill>
                <a:latin typeface="Calibri"/>
              </a:rPr>
              <a:t>Third level</a:t>
            </a:r>
            <a:endParaRPr b="0" lang="en-US" sz="1350" spc="-1" strike="noStrike">
              <a:solidFill>
                <a:schemeClr val="dk1"/>
              </a:solidFill>
              <a:latin typeface="Calibri"/>
            </a:endParaRPr>
          </a:p>
          <a:p>
            <a:pPr lvl="3" marL="1371600" indent="-343080" defTabSz="343080">
              <a:lnSpc>
                <a:spcPct val="100000"/>
              </a:lnSpc>
              <a:spcBef>
                <a:spcPts val="241"/>
              </a:spcBef>
              <a:buClr>
                <a:srgbClr val="000000"/>
              </a:buClr>
              <a:buFont typeface="Arial"/>
              <a:buChar char="–"/>
            </a:pPr>
            <a:r>
              <a:rPr b="0" lang="en-US" sz="1200" spc="-1" strike="noStrike">
                <a:solidFill>
                  <a:schemeClr val="dk1"/>
                </a:solidFill>
                <a:latin typeface="Calibri"/>
              </a:rPr>
              <a:t>Fourth level</a:t>
            </a:r>
            <a:endParaRPr b="0" lang="en-US" sz="1200" spc="-1" strike="noStrike">
              <a:solidFill>
                <a:schemeClr val="dk1"/>
              </a:solidFill>
              <a:latin typeface="Calibri"/>
            </a:endParaRPr>
          </a:p>
          <a:p>
            <a:pPr lvl="4" marL="1714680" indent="-343080" defTabSz="343080">
              <a:lnSpc>
                <a:spcPct val="100000"/>
              </a:lnSpc>
              <a:spcBef>
                <a:spcPts val="241"/>
              </a:spcBef>
              <a:buClr>
                <a:srgbClr val="000000"/>
              </a:buClr>
              <a:buFont typeface="Arial"/>
              <a:buChar char="»"/>
            </a:pPr>
            <a:r>
              <a:rPr b="0" lang="en-US" sz="1200" spc="-1" strike="noStrike">
                <a:solidFill>
                  <a:schemeClr val="dk1"/>
                </a:solidFill>
                <a:latin typeface="Calibri"/>
              </a:rPr>
              <a:t>Fifth level</a:t>
            </a:r>
            <a:endParaRPr b="0" lang="en-US" sz="1200" spc="-1" strike="noStrike">
              <a:solidFill>
                <a:schemeClr val="dk1"/>
              </a:solidFill>
              <a:latin typeface="Calibri"/>
            </a:endParaRPr>
          </a:p>
        </p:txBody>
      </p:sp>
      <p:sp>
        <p:nvSpPr>
          <p:cNvPr id="43" name="PlaceHolder 6"/>
          <p:cNvSpPr>
            <a:spLocks noGrp="1"/>
          </p:cNvSpPr>
          <p:nvPr>
            <p:ph type="dt" idx="19"/>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44" name="PlaceHolder 7"/>
          <p:cNvSpPr>
            <a:spLocks noGrp="1"/>
          </p:cNvSpPr>
          <p:nvPr>
            <p:ph type="ftr" idx="20"/>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45" name="PlaceHolder 8"/>
          <p:cNvSpPr>
            <a:spLocks noGrp="1"/>
          </p:cNvSpPr>
          <p:nvPr>
            <p:ph type="sldNum" idx="21"/>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1964FD8A-3EE3-4EA4-A996-CFAF5E2AB6ED}"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Autofit/>
          </a:bodyPr>
          <a:p>
            <a:pPr indent="0" algn="ctr" defTabSz="343080">
              <a:lnSpc>
                <a:spcPct val="100000"/>
              </a:lnSpc>
              <a:buNone/>
            </a:pPr>
            <a:r>
              <a:rPr b="0" lang="en-US" sz="3300" spc="-1" strike="noStrike">
                <a:solidFill>
                  <a:schemeClr val="dk1"/>
                </a:solidFill>
                <a:latin typeface="Calibri"/>
              </a:rPr>
              <a:t>Click to edit Master title style</a:t>
            </a:r>
            <a:endParaRPr b="0" lang="en-US" sz="3300" spc="-1" strike="noStrike">
              <a:solidFill>
                <a:schemeClr val="dk1"/>
              </a:solidFill>
              <a:latin typeface="Calibri"/>
            </a:endParaRPr>
          </a:p>
        </p:txBody>
      </p:sp>
      <p:sp>
        <p:nvSpPr>
          <p:cNvPr id="47" name="PlaceHolder 2"/>
          <p:cNvSpPr>
            <a:spLocks noGrp="1"/>
          </p:cNvSpPr>
          <p:nvPr>
            <p:ph type="dt" idx="22"/>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48" name="PlaceHolder 3"/>
          <p:cNvSpPr>
            <a:spLocks noGrp="1"/>
          </p:cNvSpPr>
          <p:nvPr>
            <p:ph type="ftr" idx="23"/>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49" name="PlaceHolder 4"/>
          <p:cNvSpPr>
            <a:spLocks noGrp="1"/>
          </p:cNvSpPr>
          <p:nvPr>
            <p:ph type="sldNum" idx="24"/>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B6E09B59-D428-4BDD-9255-C6BD329B6395}"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52" name="PlaceHolder 2"/>
          <p:cNvSpPr>
            <a:spLocks noGrp="1"/>
          </p:cNvSpPr>
          <p:nvPr>
            <p:ph type="ftr" idx="26"/>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53" name="PlaceHolder 3"/>
          <p:cNvSpPr>
            <a:spLocks noGrp="1"/>
          </p:cNvSpPr>
          <p:nvPr>
            <p:ph type="sldNum" idx="27"/>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C8136DAB-CA2C-43A3-8F3F-60873C2CF1DA}"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457200" y="204840"/>
            <a:ext cx="3007800" cy="871200"/>
          </a:xfrm>
          <a:prstGeom prst="rect">
            <a:avLst/>
          </a:prstGeom>
          <a:noFill/>
          <a:ln w="0">
            <a:noFill/>
          </a:ln>
        </p:spPr>
        <p:txBody>
          <a:bodyPr lIns="91440" rIns="91440" tIns="45720" bIns="45720" anchor="b">
            <a:noAutofit/>
          </a:bodyPr>
          <a:p>
            <a:pPr indent="0" defTabSz="343080">
              <a:lnSpc>
                <a:spcPct val="100000"/>
              </a:lnSpc>
              <a:buNone/>
            </a:pPr>
            <a:r>
              <a:rPr b="1" lang="en-US" sz="1500" spc="-1" strike="noStrike">
                <a:solidFill>
                  <a:schemeClr val="dk1"/>
                </a:solidFill>
                <a:latin typeface="Calibri"/>
              </a:rPr>
              <a:t>Click to edit Master title style</a:t>
            </a:r>
            <a:endParaRPr b="0" lang="en-US" sz="1500" spc="-1" strike="noStrike">
              <a:solidFill>
                <a:schemeClr val="dk1"/>
              </a:solidFill>
              <a:latin typeface="Calibri"/>
            </a:endParaRPr>
          </a:p>
        </p:txBody>
      </p:sp>
      <p:sp>
        <p:nvSpPr>
          <p:cNvPr id="55" name="PlaceHolder 2"/>
          <p:cNvSpPr>
            <a:spLocks noGrp="1"/>
          </p:cNvSpPr>
          <p:nvPr>
            <p:ph type="body"/>
          </p:nvPr>
        </p:nvSpPr>
        <p:spPr>
          <a:xfrm>
            <a:off x="3575160" y="204840"/>
            <a:ext cx="5111280" cy="4389480"/>
          </a:xfrm>
          <a:prstGeom prst="rect">
            <a:avLst/>
          </a:prstGeom>
          <a:noFill/>
          <a:ln w="0">
            <a:noFill/>
          </a:ln>
        </p:spPr>
        <p:txBody>
          <a:bodyPr lIns="91440" rIns="91440" tIns="45720" bIns="45720" anchor="t">
            <a:no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68580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Second level</a:t>
            </a:r>
            <a:endParaRPr b="0" lang="en-US" sz="2100" spc="-1" strike="noStrike">
              <a:solidFill>
                <a:schemeClr val="dk1"/>
              </a:solidFill>
              <a:latin typeface="Calibri"/>
            </a:endParaRPr>
          </a:p>
          <a:p>
            <a:pPr lvl="2" marL="1028880" indent="-343080" defTabSz="34308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37160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Fourth level</a:t>
            </a:r>
            <a:endParaRPr b="0" lang="en-US" sz="1500" spc="-1" strike="noStrike">
              <a:solidFill>
                <a:schemeClr val="dk1"/>
              </a:solidFill>
              <a:latin typeface="Calibri"/>
            </a:endParaRPr>
          </a:p>
          <a:p>
            <a:pPr lvl="4" marL="1714680" indent="-343080" defTabSz="343080">
              <a:lnSpc>
                <a:spcPct val="100000"/>
              </a:lnSpc>
              <a:spcBef>
                <a:spcPts val="300"/>
              </a:spcBef>
              <a:buClr>
                <a:srgbClr val="000000"/>
              </a:buClr>
              <a:buFont typeface="Arial"/>
              <a:buChar char="»"/>
            </a:pPr>
            <a:r>
              <a:rPr b="0" lang="en-US" sz="1500" spc="-1" strike="noStrike">
                <a:solidFill>
                  <a:schemeClr val="dk1"/>
                </a:solidFill>
                <a:latin typeface="Calibri"/>
              </a:rPr>
              <a:t>Fifth level</a:t>
            </a:r>
            <a:endParaRPr b="0" lang="en-US" sz="1500" spc="-1" strike="noStrike">
              <a:solidFill>
                <a:schemeClr val="dk1"/>
              </a:solidFill>
              <a:latin typeface="Calibri"/>
            </a:endParaRPr>
          </a:p>
        </p:txBody>
      </p:sp>
      <p:sp>
        <p:nvSpPr>
          <p:cNvPr id="56" name="PlaceHolder 3"/>
          <p:cNvSpPr>
            <a:spLocks noGrp="1"/>
          </p:cNvSpPr>
          <p:nvPr>
            <p:ph type="body"/>
          </p:nvPr>
        </p:nvSpPr>
        <p:spPr>
          <a:xfrm>
            <a:off x="457200" y="1076400"/>
            <a:ext cx="3007800" cy="3517920"/>
          </a:xfrm>
          <a:prstGeom prst="rect">
            <a:avLst/>
          </a:prstGeom>
          <a:noFill/>
          <a:ln w="0">
            <a:noFill/>
          </a:ln>
        </p:spPr>
        <p:txBody>
          <a:bodyPr lIns="91440" rIns="91440" tIns="45720" bIns="45720" anchor="t">
            <a:noAutofit/>
          </a:bodyPr>
          <a:p>
            <a:pPr indent="0" defTabSz="343080">
              <a:lnSpc>
                <a:spcPct val="100000"/>
              </a:lnSpc>
              <a:spcBef>
                <a:spcPts val="210"/>
              </a:spcBef>
              <a:buNone/>
              <a:tabLst>
                <a:tab algn="l" pos="0"/>
              </a:tabLst>
            </a:pPr>
            <a:r>
              <a:rPr b="0" lang="en-US" sz="1050" spc="-1" strike="noStrike">
                <a:solidFill>
                  <a:schemeClr val="dk1"/>
                </a:solidFill>
                <a:latin typeface="Calibri"/>
              </a:rPr>
              <a:t>Click to edit Master text styles</a:t>
            </a:r>
            <a:endParaRPr b="0" lang="en-US" sz="1050" spc="-1" strike="noStrike">
              <a:solidFill>
                <a:schemeClr val="dk1"/>
              </a:solidFill>
              <a:latin typeface="Calibri"/>
            </a:endParaRPr>
          </a:p>
        </p:txBody>
      </p:sp>
      <p:sp>
        <p:nvSpPr>
          <p:cNvPr id="57" name="PlaceHolder 4"/>
          <p:cNvSpPr>
            <a:spLocks noGrp="1"/>
          </p:cNvSpPr>
          <p:nvPr>
            <p:ph type="dt" idx="28"/>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58" name="PlaceHolder 5"/>
          <p:cNvSpPr>
            <a:spLocks noGrp="1"/>
          </p:cNvSpPr>
          <p:nvPr>
            <p:ph type="ftr" idx="29"/>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59" name="PlaceHolder 6"/>
          <p:cNvSpPr>
            <a:spLocks noGrp="1"/>
          </p:cNvSpPr>
          <p:nvPr>
            <p:ph type="sldNum" idx="30"/>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68BF88AE-B356-4BBF-9CB8-120A695392AF}"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1792440" y="3600360"/>
            <a:ext cx="5486040" cy="424800"/>
          </a:xfrm>
          <a:prstGeom prst="rect">
            <a:avLst/>
          </a:prstGeom>
          <a:noFill/>
          <a:ln w="0">
            <a:noFill/>
          </a:ln>
        </p:spPr>
        <p:txBody>
          <a:bodyPr lIns="91440" rIns="91440" tIns="45720" bIns="45720" anchor="b">
            <a:noAutofit/>
          </a:bodyPr>
          <a:p>
            <a:pPr indent="0" defTabSz="343080">
              <a:lnSpc>
                <a:spcPct val="100000"/>
              </a:lnSpc>
              <a:buNone/>
            </a:pPr>
            <a:r>
              <a:rPr b="1" lang="en-US" sz="1500" spc="-1" strike="noStrike">
                <a:solidFill>
                  <a:schemeClr val="dk1"/>
                </a:solidFill>
                <a:latin typeface="Calibri"/>
              </a:rPr>
              <a:t>Click to edit Master title style</a:t>
            </a:r>
            <a:endParaRPr b="0" lang="en-US" sz="1500" spc="-1" strike="noStrike">
              <a:solidFill>
                <a:schemeClr val="dk1"/>
              </a:solidFill>
              <a:latin typeface="Calibri"/>
            </a:endParaRPr>
          </a:p>
        </p:txBody>
      </p:sp>
      <p:sp>
        <p:nvSpPr>
          <p:cNvPr id="61" name="PlaceHolder 2"/>
          <p:cNvSpPr>
            <a:spLocks noGrp="1"/>
          </p:cNvSpPr>
          <p:nvPr>
            <p:ph type="body"/>
          </p:nvPr>
        </p:nvSpPr>
        <p:spPr>
          <a:xfrm>
            <a:off x="1792440" y="459720"/>
            <a:ext cx="5486040" cy="308592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2400" spc="-1" strike="noStrike">
                <a:solidFill>
                  <a:schemeClr val="dk1"/>
                </a:solidFill>
                <a:latin typeface="Calibri"/>
              </a:rPr>
              <a:t>Click to edit the outline text format</a:t>
            </a:r>
            <a:endParaRPr b="0" lang="en-US" sz="24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400" spc="-1" strike="noStrike">
                <a:solidFill>
                  <a:schemeClr val="dk1"/>
                </a:solidFill>
                <a:latin typeface="Calibri"/>
              </a:rPr>
              <a:t>Third Outline Level</a:t>
            </a:r>
            <a:endParaRPr b="0" lang="en-US" sz="24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400" spc="-1" strike="noStrike">
                <a:solidFill>
                  <a:schemeClr val="dk1"/>
                </a:solidFill>
                <a:latin typeface="Calibri"/>
              </a:rPr>
              <a:t>Fourth Outline Level</a:t>
            </a:r>
            <a:endParaRPr b="0" lang="en-US" sz="24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400" spc="-1" strike="noStrike">
                <a:solidFill>
                  <a:schemeClr val="dk1"/>
                </a:solidFill>
                <a:latin typeface="Calibri"/>
              </a:rPr>
              <a:t>Fifth Outline Level</a:t>
            </a:r>
            <a:endParaRPr b="0" lang="en-US" sz="24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400" spc="-1" strike="noStrike">
                <a:solidFill>
                  <a:schemeClr val="dk1"/>
                </a:solidFill>
                <a:latin typeface="Calibri"/>
              </a:rPr>
              <a:t>Sixth Outline Level</a:t>
            </a:r>
            <a:endParaRPr b="0" lang="en-US" sz="24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400" spc="-1" strike="noStrike">
                <a:solidFill>
                  <a:schemeClr val="dk1"/>
                </a:solidFill>
                <a:latin typeface="Calibri"/>
              </a:rPr>
              <a:t>Seventh Outline Level</a:t>
            </a:r>
            <a:endParaRPr b="0" lang="en-US" sz="2400" spc="-1" strike="noStrike">
              <a:solidFill>
                <a:schemeClr val="dk1"/>
              </a:solidFill>
              <a:latin typeface="Calibri"/>
            </a:endParaRPr>
          </a:p>
        </p:txBody>
      </p:sp>
      <p:sp>
        <p:nvSpPr>
          <p:cNvPr id="62" name="PlaceHolder 3"/>
          <p:cNvSpPr>
            <a:spLocks noGrp="1"/>
          </p:cNvSpPr>
          <p:nvPr>
            <p:ph type="body"/>
          </p:nvPr>
        </p:nvSpPr>
        <p:spPr>
          <a:xfrm>
            <a:off x="1792440" y="4025520"/>
            <a:ext cx="5486040" cy="603360"/>
          </a:xfrm>
          <a:prstGeom prst="rect">
            <a:avLst/>
          </a:prstGeom>
          <a:noFill/>
          <a:ln w="0">
            <a:noFill/>
          </a:ln>
        </p:spPr>
        <p:txBody>
          <a:bodyPr lIns="91440" rIns="91440" tIns="45720" bIns="45720" anchor="t">
            <a:noAutofit/>
          </a:bodyPr>
          <a:p>
            <a:pPr indent="0" defTabSz="343080">
              <a:lnSpc>
                <a:spcPct val="100000"/>
              </a:lnSpc>
              <a:spcBef>
                <a:spcPts val="210"/>
              </a:spcBef>
              <a:buNone/>
              <a:tabLst>
                <a:tab algn="l" pos="0"/>
              </a:tabLst>
            </a:pPr>
            <a:r>
              <a:rPr b="0" lang="en-US" sz="1050" spc="-1" strike="noStrike">
                <a:solidFill>
                  <a:schemeClr val="dk1"/>
                </a:solidFill>
                <a:latin typeface="Calibri"/>
              </a:rPr>
              <a:t>Click to edit Master text styles</a:t>
            </a:r>
            <a:endParaRPr b="0" lang="en-US" sz="1050" spc="-1" strike="noStrike">
              <a:solidFill>
                <a:schemeClr val="dk1"/>
              </a:solidFill>
              <a:latin typeface="Calibri"/>
            </a:endParaRPr>
          </a:p>
        </p:txBody>
      </p:sp>
      <p:sp>
        <p:nvSpPr>
          <p:cNvPr id="63" name="PlaceHolder 4"/>
          <p:cNvSpPr>
            <a:spLocks noGrp="1"/>
          </p:cNvSpPr>
          <p:nvPr>
            <p:ph type="dt" idx="31"/>
          </p:nvPr>
        </p:nvSpPr>
        <p:spPr>
          <a:xfrm>
            <a:off x="457200" y="4767120"/>
            <a:ext cx="2133360" cy="273600"/>
          </a:xfrm>
          <a:prstGeom prst="rect">
            <a:avLst/>
          </a:prstGeom>
          <a:noFill/>
          <a:ln w="0">
            <a:noFill/>
          </a:ln>
        </p:spPr>
        <p:txBody>
          <a:bodyPr lIns="91440" rIns="91440" tIns="45720" bIns="45720" anchor="ctr">
            <a:noAutofit/>
          </a:bodyPr>
          <a:lstStyle>
            <a:lvl1pPr indent="0" defTabSz="457200">
              <a:lnSpc>
                <a:spcPct val="100000"/>
              </a:lnSpc>
              <a:buNone/>
              <a:defRPr b="0" lang="en-US" sz="900" spc="-1" strike="noStrike">
                <a:solidFill>
                  <a:schemeClr val="dk1">
                    <a:tint val="75000"/>
                  </a:schemeClr>
                </a:solidFill>
                <a:latin typeface="Calibri"/>
              </a:defRPr>
            </a:lvl1pPr>
          </a:lstStyle>
          <a:p>
            <a:pPr indent="0" defTabSz="457200">
              <a:lnSpc>
                <a:spcPct val="100000"/>
              </a:lnSpc>
              <a:buNone/>
            </a:pPr>
            <a:r>
              <a:rPr b="0" lang="en-US" sz="900" spc="-1" strike="noStrike">
                <a:solidFill>
                  <a:schemeClr val="dk1">
                    <a:tint val="75000"/>
                  </a:schemeClr>
                </a:solidFill>
                <a:latin typeface="Calibri"/>
              </a:rPr>
              <a:t>&lt;date/time&gt;</a:t>
            </a:r>
            <a:endParaRPr b="0" lang="en-GB" sz="900" spc="-1" strike="noStrike">
              <a:solidFill>
                <a:srgbClr val="000000"/>
              </a:solidFill>
              <a:latin typeface="Times New Roman"/>
            </a:endParaRPr>
          </a:p>
        </p:txBody>
      </p:sp>
      <p:sp>
        <p:nvSpPr>
          <p:cNvPr id="64" name="PlaceHolder 5"/>
          <p:cNvSpPr>
            <a:spLocks noGrp="1"/>
          </p:cNvSpPr>
          <p:nvPr>
            <p:ph type="ftr" idx="32"/>
          </p:nvPr>
        </p:nvSpPr>
        <p:spPr>
          <a:xfrm>
            <a:off x="3124080" y="4767120"/>
            <a:ext cx="2895120" cy="273600"/>
          </a:xfrm>
          <a:prstGeom prst="rect">
            <a:avLst/>
          </a:prstGeom>
          <a:noFill/>
          <a:ln w="0">
            <a:noFill/>
          </a:ln>
        </p:spPr>
        <p:txBody>
          <a:bodyPr lIns="91440" rIns="91440" tIns="45720" bIns="45720" anchor="ctr">
            <a:noAutofit/>
          </a:bodyPr>
          <a:lstStyle>
            <a:lvl1pPr indent="0" algn="ctr">
              <a:buNone/>
              <a:defRPr b="0" lang="en-GB" sz="1400" spc="-1" strike="noStrike">
                <a:solidFill>
                  <a:srgbClr val="000000"/>
                </a:solidFill>
                <a:latin typeface="Times New Roman"/>
              </a:defRPr>
            </a:lvl1pPr>
          </a:lstStyle>
          <a:p>
            <a:pPr indent="0" algn="ctr">
              <a:buNone/>
            </a:pPr>
            <a:r>
              <a:rPr b="0" lang="en-GB" sz="1400" spc="-1" strike="noStrike">
                <a:solidFill>
                  <a:srgbClr val="000000"/>
                </a:solidFill>
                <a:latin typeface="Times New Roman"/>
              </a:rPr>
              <a:t>&lt;footer&gt;</a:t>
            </a:r>
            <a:endParaRPr b="0" lang="en-GB" sz="1400" spc="-1" strike="noStrike">
              <a:solidFill>
                <a:srgbClr val="000000"/>
              </a:solidFill>
              <a:latin typeface="Times New Roman"/>
            </a:endParaRPr>
          </a:p>
        </p:txBody>
      </p:sp>
      <p:sp>
        <p:nvSpPr>
          <p:cNvPr id="65" name="PlaceHolder 6"/>
          <p:cNvSpPr>
            <a:spLocks noGrp="1"/>
          </p:cNvSpPr>
          <p:nvPr>
            <p:ph type="sldNum" idx="33"/>
          </p:nvPr>
        </p:nvSpPr>
        <p:spPr>
          <a:xfrm>
            <a:off x="6553080" y="4767120"/>
            <a:ext cx="2133360" cy="273600"/>
          </a:xfrm>
          <a:prstGeom prst="rect">
            <a:avLst/>
          </a:prstGeom>
          <a:noFill/>
          <a:ln w="0">
            <a:noFill/>
          </a:ln>
        </p:spPr>
        <p:txBody>
          <a:bodyPr lIns="91440" rIns="91440" tIns="45720" bIns="45720" anchor="ctr">
            <a:noAutofit/>
          </a:bodyPr>
          <a:lstStyle>
            <a:lvl1pPr indent="0" algn="r" defTabSz="457200">
              <a:lnSpc>
                <a:spcPct val="100000"/>
              </a:lnSpc>
              <a:buNone/>
              <a:defRPr b="0" lang="en-US" sz="900" spc="-1" strike="noStrike">
                <a:solidFill>
                  <a:schemeClr val="dk1">
                    <a:tint val="75000"/>
                  </a:schemeClr>
                </a:solidFill>
                <a:latin typeface="Calibri"/>
              </a:defRPr>
            </a:lvl1pPr>
          </a:lstStyle>
          <a:p>
            <a:pPr indent="0" algn="r" defTabSz="457200">
              <a:lnSpc>
                <a:spcPct val="100000"/>
              </a:lnSpc>
              <a:buNone/>
            </a:pPr>
            <a:fld id="{81FACD6F-A9B6-46C4-A5C7-25C52C32FBC0}" type="slidenum">
              <a:rPr b="0" lang="en-US" sz="900" spc="-1" strike="noStrike">
                <a:solidFill>
                  <a:schemeClr val="dk1">
                    <a:tint val="75000"/>
                  </a:schemeClr>
                </a:solidFill>
                <a:latin typeface="Calibri"/>
              </a:rPr>
              <a:t>&lt;number&gt;</a:t>
            </a:fld>
            <a:endParaRPr b="0" lang="en-GB" sz="9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hyperlink" Target="https://youtu.be/zTd0-A5yDZI" TargetMode="External"/><Relationship Id="rId2"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4.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4.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4.xml"/><Relationship Id="rId3"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4.xml"/><Relationship Id="rId3"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4.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4.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4.xml"/><Relationship Id="rId3"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4.xml"/><Relationship Id="rId3"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685800" y="1597680"/>
            <a:ext cx="7772040" cy="110232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Dementia and its treatments</a:t>
            </a:r>
            <a:endParaRPr b="0" lang="en-US" sz="3300" spc="-1" strike="noStrike">
              <a:solidFill>
                <a:schemeClr val="dk1"/>
              </a:solidFill>
              <a:latin typeface="Calibri"/>
            </a:endParaRPr>
          </a:p>
        </p:txBody>
      </p:sp>
      <p:sp>
        <p:nvSpPr>
          <p:cNvPr id="73" name="PlaceHolder 2"/>
          <p:cNvSpPr>
            <a:spLocks noGrp="1"/>
          </p:cNvSpPr>
          <p:nvPr>
            <p:ph type="subTitle"/>
          </p:nvPr>
        </p:nvSpPr>
        <p:spPr>
          <a:xfrm>
            <a:off x="1371600" y="2914560"/>
            <a:ext cx="6400440" cy="1314000"/>
          </a:xfrm>
          <a:prstGeom prst="rect">
            <a:avLst/>
          </a:prstGeom>
          <a:noFill/>
          <a:ln w="0">
            <a:noFill/>
          </a:ln>
        </p:spPr>
        <p:txBody>
          <a:bodyPr lIns="91440" rIns="91440" tIns="45720" bIns="45720" anchor="t">
            <a:normAutofit fontScale="84133"/>
          </a:bodyPr>
          <a:p>
            <a:pPr indent="0" algn="ctr" defTabSz="343080">
              <a:lnSpc>
                <a:spcPct val="100000"/>
              </a:lnSpc>
              <a:spcBef>
                <a:spcPts val="479"/>
              </a:spcBef>
              <a:buNone/>
              <a:tabLst>
                <a:tab algn="l" pos="0"/>
              </a:tabLst>
            </a:pPr>
            <a:r>
              <a:rPr b="0" lang="en-GB" sz="2400" spc="-1" strike="noStrike">
                <a:solidFill>
                  <a:schemeClr val="dk1">
                    <a:tint val="75000"/>
                  </a:schemeClr>
                </a:solidFill>
                <a:latin typeface="Calibri"/>
              </a:rPr>
              <a:t>UoM Psychology Undergraduate Lecture — April 2026 (PowerPoint handout)</a:t>
            </a:r>
            <a:br>
              <a:rPr sz="2400"/>
            </a:br>
            <a:br>
              <a:rPr sz="2400"/>
            </a:br>
            <a:r>
              <a:rPr b="0" lang="en-GB" sz="2400" spc="-1" strike="noStrike">
                <a:solidFill>
                  <a:schemeClr val="dk1">
                    <a:tint val="75000"/>
                  </a:schemeClr>
                </a:solidFill>
                <a:latin typeface="Calibri"/>
              </a:rPr>
              <a:t>Dr. Ross A. Dunne</a:t>
            </a:r>
            <a:endParaRPr b="0" lang="en-GB" sz="2400" spc="-1" strike="noStrike">
              <a:solidFill>
                <a:srgbClr val="000000"/>
              </a:solidFill>
              <a:latin typeface="Arial"/>
            </a:endParaRPr>
          </a:p>
        </p:txBody>
      </p:sp>
      <p:sp>
        <p:nvSpPr>
          <p:cNvPr id="74" name="PlaceHolder 3"/>
          <p:cNvSpPr>
            <a:spLocks noGrp="1"/>
          </p:cNvSpPr>
          <p:nvPr>
            <p:ph type="dt" idx="37"/>
          </p:nvPr>
        </p:nvSpPr>
        <p:spPr>
          <a:xfrm>
            <a:off x="457200" y="4767120"/>
            <a:ext cx="2133360" cy="273600"/>
          </a:xfrm>
          <a:prstGeom prst="rect">
            <a:avLst/>
          </a:prstGeom>
          <a:noFill/>
          <a:ln w="0">
            <a:noFill/>
          </a:ln>
        </p:spPr>
        <p:txBody>
          <a:bodyPr lIns="91440" rIns="91440" tIns="45720" bIns="45720" anchor="ctr">
            <a:normAutofit/>
          </a:bodyPr>
          <a:lstStyle>
            <a:lvl1pPr indent="0" defTabSz="457200">
              <a:lnSpc>
                <a:spcPct val="100000"/>
              </a:lnSpc>
              <a:buNone/>
              <a:tabLst>
                <a:tab algn="l" pos="0"/>
              </a:tabLst>
              <a:defRPr b="0" lang="en-US" sz="900" spc="-1" strike="noStrike">
                <a:solidFill>
                  <a:schemeClr val="dk1">
                    <a:tint val="75000"/>
                  </a:schemeClr>
                </a:solidFill>
                <a:latin typeface="Calibri"/>
              </a:defRPr>
            </a:lvl1pPr>
          </a:lstStyle>
          <a:p>
            <a:pPr indent="0" defTabSz="457200">
              <a:lnSpc>
                <a:spcPct val="100000"/>
              </a:lnSpc>
              <a:buNone/>
              <a:tabLst>
                <a:tab algn="l" pos="0"/>
              </a:tabLst>
            </a:pPr>
            <a:r>
              <a:rPr b="0" lang="en-US" sz="900" spc="-1" strike="noStrike">
                <a:solidFill>
                  <a:schemeClr val="dk1">
                    <a:tint val="75000"/>
                  </a:schemeClr>
                </a:solidFill>
                <a:latin typeface="Calibri"/>
              </a:rPr>
              <a:t>2026-04-26</a:t>
            </a:r>
            <a:endParaRPr b="0" lang="en-GB" sz="9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Outline</a:t>
            </a:r>
            <a:endParaRPr b="0" lang="en-US" sz="3300" spc="-1" strike="noStrike">
              <a:solidFill>
                <a:schemeClr val="dk1"/>
              </a:solidFill>
              <a:latin typeface="Calibri"/>
            </a:endParaRPr>
          </a:p>
        </p:txBody>
      </p:sp>
      <p:sp>
        <p:nvSpPr>
          <p:cNvPr id="76"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20 minutes on “Dementia”: a modern framework for understanding</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20 minutes on the development of symptomatic treatments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5 minute break</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20 minutes on disease-modifying treatments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5 minutes for questions on the material</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10–20 minutes for Q&amp;A with our trial participant</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10 minutes for student questions</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Part 1 — Dementia: a modern framework</a:t>
            </a:r>
            <a:endParaRPr b="0" lang="en-US" sz="3300" spc="-1" strike="noStrike">
              <a:solidFill>
                <a:schemeClr val="dk1"/>
              </a:solidFill>
              <a:latin typeface="Calibri"/>
            </a:endParaRPr>
          </a:p>
        </p:txBody>
      </p:sp>
      <p:sp>
        <p:nvSpPr>
          <p:cNvPr id="78"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This part covers the terminology, the biological versus clinical definition of Alzheimer’s disease, the AT(N)(X) biomarker framework, and the clinical assessment workflow.</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Audience poll</a:t>
            </a:r>
            <a:endParaRPr b="0" lang="en-US" sz="3300" spc="-1" strike="noStrike">
              <a:solidFill>
                <a:schemeClr val="dk1"/>
              </a:solidFill>
              <a:latin typeface="Calibri"/>
            </a:endParaRPr>
          </a:p>
        </p:txBody>
      </p:sp>
      <p:sp>
        <p:nvSpPr>
          <p:cNvPr id="80"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The interactive Slido poll used during the live lecture is not reproduced here. Students were invited to scan a QR code to join.</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fontScale="86982" lnSpcReduction="20000"/>
          </a:bodyPr>
          <a:p>
            <a:pPr indent="0" algn="ctr" defTabSz="343080">
              <a:lnSpc>
                <a:spcPct val="100000"/>
              </a:lnSpc>
              <a:buNone/>
              <a:tabLst>
                <a:tab algn="l" pos="0"/>
              </a:tabLst>
            </a:pPr>
            <a:r>
              <a:rPr b="0" lang="en-US" sz="3300" spc="-1" strike="noStrike">
                <a:solidFill>
                  <a:schemeClr val="dk1"/>
                </a:solidFill>
                <a:latin typeface="Calibri"/>
              </a:rPr>
              <a:t>Alzheimer’s disease is not synonymous with dementia</a:t>
            </a:r>
            <a:endParaRPr b="0" lang="en-US" sz="3300" spc="-1" strike="noStrike">
              <a:solidFill>
                <a:schemeClr val="dk1"/>
              </a:solidFill>
              <a:latin typeface="Calibri"/>
            </a:endParaRPr>
          </a:p>
        </p:txBody>
      </p:sp>
      <p:sp>
        <p:nvSpPr>
          <p:cNvPr id="82"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3713"/>
          </a:bodyPr>
          <a:p>
            <a:pPr indent="0" defTabSz="343080">
              <a:lnSpc>
                <a:spcPct val="100000"/>
              </a:lnSpc>
              <a:spcBef>
                <a:spcPts val="479"/>
              </a:spcBef>
              <a:buNone/>
              <a:tabLst>
                <a:tab algn="l" pos="0"/>
              </a:tabLst>
            </a:pPr>
            <a:r>
              <a:rPr b="0" lang="en-US" sz="2400" spc="-1" strike="noStrike">
                <a:solidFill>
                  <a:schemeClr val="dk1"/>
                </a:solidFill>
                <a:latin typeface="Calibri"/>
              </a:rPr>
              <a:t>Dementia is an umbrella term used to describe a state where an individual has lost the ability to carry out daily life activities independently because of cognitive impairment.</a:t>
            </a:r>
            <a:endParaRPr b="0" lang="en-US" sz="2400" spc="-1" strike="noStrike">
              <a:solidFill>
                <a:schemeClr val="dk1"/>
              </a:solidFill>
              <a:latin typeface="Calibri"/>
            </a:endParaRPr>
          </a:p>
          <a:p>
            <a:pPr indent="0" defTabSz="343080">
              <a:lnSpc>
                <a:spcPct val="100000"/>
              </a:lnSpc>
              <a:spcBef>
                <a:spcPts val="479"/>
              </a:spcBef>
              <a:buNone/>
              <a:tabLst>
                <a:tab algn="l" pos="0"/>
              </a:tabLst>
            </a:pPr>
            <a:r>
              <a:rPr b="0" lang="en-US" sz="2400" spc="-1" strike="noStrike">
                <a:solidFill>
                  <a:schemeClr val="dk1"/>
                </a:solidFill>
                <a:latin typeface="Calibri"/>
              </a:rPr>
              <a:t>There are many types and causes of dementia. The most common ones are: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AutoNum type="arabicPeriod"/>
              <a:tabLst>
                <a:tab algn="l" pos="0"/>
              </a:tabLst>
            </a:pPr>
            <a:r>
              <a:rPr b="0" lang="en-US" sz="2400" spc="-1" strike="noStrike">
                <a:solidFill>
                  <a:schemeClr val="dk1"/>
                </a:solidFill>
                <a:latin typeface="Calibri"/>
              </a:rPr>
              <a:t>Alzheimer’s disease (AD) — pathological definition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AutoNum type="arabicPeriod"/>
              <a:tabLst>
                <a:tab algn="l" pos="0"/>
              </a:tabLst>
            </a:pPr>
            <a:r>
              <a:rPr b="0" lang="en-US" sz="2400" spc="-1" strike="noStrike">
                <a:solidFill>
                  <a:schemeClr val="dk1"/>
                </a:solidFill>
                <a:latin typeface="Calibri"/>
              </a:rPr>
              <a:t>Vascular dementia — aetiological definition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AutoNum type="arabicPeriod"/>
              <a:tabLst>
                <a:tab algn="l" pos="0"/>
              </a:tabLst>
            </a:pPr>
            <a:r>
              <a:rPr b="0" lang="en-US" sz="2400" spc="-1" strike="noStrike">
                <a:solidFill>
                  <a:schemeClr val="dk1"/>
                </a:solidFill>
                <a:latin typeface="Calibri"/>
              </a:rPr>
              <a:t>Dementia with Lewy bodies — molecular definition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AutoNum type="arabicPeriod"/>
              <a:tabLst>
                <a:tab algn="l" pos="0"/>
              </a:tabLst>
            </a:pPr>
            <a:r>
              <a:rPr b="0" lang="en-US" sz="2400" spc="-1" strike="noStrike">
                <a:solidFill>
                  <a:schemeClr val="dk1"/>
                </a:solidFill>
                <a:latin typeface="Calibri"/>
              </a:rPr>
              <a:t>Frontotemporal dementia — anatomical definition</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Nature Neuroscience overview</a:t>
            </a:r>
            <a:endParaRPr b="0" lang="en-US" sz="3300" spc="-1" strike="noStrike">
              <a:solidFill>
                <a:schemeClr val="dk1"/>
              </a:solidFill>
              <a:latin typeface="Calibri"/>
            </a:endParaRPr>
          </a:p>
        </p:txBody>
      </p:sp>
      <p:sp>
        <p:nvSpPr>
          <p:cNvPr id="84"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A short Nature Neuroscience overview video was shown at this point.</a:t>
            </a:r>
            <a:endParaRPr b="0" lang="en-US" sz="2400" spc="-1" strike="noStrike">
              <a:solidFill>
                <a:schemeClr val="dk1"/>
              </a:solidFill>
              <a:latin typeface="Calibri"/>
            </a:endParaRPr>
          </a:p>
          <a:p>
            <a:pPr indent="0" defTabSz="343080">
              <a:lnSpc>
                <a:spcPct val="100000"/>
              </a:lnSpc>
              <a:spcBef>
                <a:spcPts val="479"/>
              </a:spcBef>
              <a:buNone/>
              <a:tabLst>
                <a:tab algn="l" pos="0"/>
              </a:tabLst>
            </a:pPr>
            <a:r>
              <a:rPr b="0" lang="en-US" sz="2400" spc="-1" strike="noStrike">
                <a:solidFill>
                  <a:schemeClr val="dk1"/>
                </a:solidFill>
                <a:latin typeface="Calibri"/>
              </a:rPr>
              <a:t>Video: </a:t>
            </a:r>
            <a:r>
              <a:rPr b="0" lang="en-US" sz="2400" spc="-1" strike="noStrike" u="sng">
                <a:solidFill>
                  <a:schemeClr val="dk1"/>
                </a:solidFill>
                <a:uFillTx/>
                <a:latin typeface="Calibri"/>
                <a:hlinkClick r:id="rId1"/>
              </a:rPr>
              <a:t>https://youtu.be/zTd0-A5yDZI</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Alzheimer’s disease is a disease like any other</a:t>
            </a:r>
            <a:endParaRPr b="0" lang="en-US" sz="3300" spc="-1" strike="noStrike">
              <a:solidFill>
                <a:schemeClr val="dk1"/>
              </a:solidFill>
              <a:latin typeface="Calibri"/>
            </a:endParaRPr>
          </a:p>
        </p:txBody>
      </p:sp>
      <p:sp>
        <p:nvSpPr>
          <p:cNvPr id="86"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AD refers to the abnormal presence of Aβ and tau proteins which define AD among many other neurodegenerative diseases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Some individuals may have dementia without Aβ or tau pathology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Others (rarely) may have no clinical symptoms even in the presence of Aβ pathology</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Alzheimer’s disease timeline</a:t>
            </a:r>
            <a:endParaRPr b="0" lang="en-US" sz="3300" spc="-1" strike="noStrike">
              <a:solidFill>
                <a:schemeClr val="dk1"/>
              </a:solidFill>
              <a:latin typeface="Calibri"/>
            </a:endParaRPr>
          </a:p>
        </p:txBody>
      </p:sp>
      <p:sp>
        <p:nvSpPr>
          <p:cNvPr id="88" name="TextBox 3"/>
          <p:cNvSpPr/>
          <p:nvPr/>
        </p:nvSpPr>
        <p:spPr>
          <a:xfrm>
            <a:off x="457200" y="4076640"/>
            <a:ext cx="8229240" cy="507600"/>
          </a:xfrm>
          <a:prstGeom prst="rect">
            <a:avLst/>
          </a:prstGeom>
          <a:noFill/>
          <a:ln w="0">
            <a:noFill/>
          </a:ln>
        </p:spPr>
        <p:style>
          <a:lnRef idx="0"/>
          <a:fillRef idx="0"/>
          <a:effectRef idx="0"/>
          <a:fontRef idx="minor"/>
        </p:style>
        <p:txBody>
          <a:bodyPr lIns="90000" rIns="90000" tIns="45000" bIns="45000" anchor="t">
            <a:normAutofit fontScale="75000"/>
          </a:bodyPr>
          <a:p>
            <a:pPr algn="ctr" defTabSz="457200">
              <a:lnSpc>
                <a:spcPct val="100000"/>
              </a:lnSpc>
              <a:tabLst>
                <a:tab algn="l" pos="0"/>
              </a:tabLst>
            </a:pPr>
            <a:r>
              <a:rPr b="0" lang="en-US" sz="1800" spc="-1" strike="noStrike">
                <a:solidFill>
                  <a:schemeClr val="dk1"/>
                </a:solidFill>
                <a:latin typeface="Calibri"/>
              </a:rPr>
              <a:t>Timeline of Alzheimer’s disease pathology and clinical milestones, from Alzheimer’s 1907 case description through to disease-modifying antibody approvals in 2023–2024.</a:t>
            </a:r>
            <a:endParaRPr b="0" lang="en-GB" sz="1800" spc="-1" strike="noStrike">
              <a:solidFill>
                <a:srgbClr val="000000"/>
              </a:solidFill>
              <a:latin typeface="Arial"/>
            </a:endParaRPr>
          </a:p>
        </p:txBody>
      </p:sp>
      <p:pic>
        <p:nvPicPr>
          <p:cNvPr id="89" name="" descr=""/>
          <p:cNvPicPr/>
          <p:nvPr/>
        </p:nvPicPr>
        <p:blipFill>
          <a:blip r:embed="rId1"/>
          <a:stretch/>
        </p:blipFill>
        <p:spPr>
          <a:xfrm>
            <a:off x="532800" y="-2880"/>
            <a:ext cx="8084160" cy="51433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Biological vs clinical definition</a:t>
            </a:r>
            <a:endParaRPr b="0" lang="en-US" sz="3300" spc="-1" strike="noStrike">
              <a:solidFill>
                <a:schemeClr val="dk1"/>
              </a:solidFill>
              <a:latin typeface="Calibri"/>
            </a:endParaRPr>
          </a:p>
        </p:txBody>
      </p:sp>
      <p:sp>
        <p:nvSpPr>
          <p:cNvPr id="91" name="PlaceHolder 2"/>
          <p:cNvSpPr>
            <a:spLocks noGrp="1"/>
          </p:cNvSpPr>
          <p:nvPr>
            <p:ph/>
          </p:nvPr>
        </p:nvSpPr>
        <p:spPr>
          <a:xfrm>
            <a:off x="457200" y="1200240"/>
            <a:ext cx="4038120" cy="3394080"/>
          </a:xfrm>
          <a:prstGeom prst="rect">
            <a:avLst/>
          </a:prstGeom>
          <a:noFill/>
          <a:ln w="0">
            <a:noFill/>
          </a:ln>
        </p:spPr>
        <p:txBody>
          <a:bodyPr lIns="91440" rIns="91440" tIns="45720" bIns="45720" anchor="t">
            <a:normAutofit/>
          </a:bodyPr>
          <a:p>
            <a:pPr indent="0" defTabSz="343080">
              <a:lnSpc>
                <a:spcPct val="100000"/>
              </a:lnSpc>
              <a:spcBef>
                <a:spcPts val="420"/>
              </a:spcBef>
              <a:buNone/>
              <a:tabLst>
                <a:tab algn="l" pos="0"/>
              </a:tabLst>
            </a:pPr>
            <a:r>
              <a:rPr b="1" lang="en-US" sz="2100" spc="-1" strike="noStrike">
                <a:solidFill>
                  <a:schemeClr val="dk1"/>
                </a:solidFill>
                <a:latin typeface="Calibri"/>
              </a:rPr>
              <a:t>The old way (pre-2010)</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Clinical syndrome → “probable AD”</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Pathology only confirmed at post-mortem</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Heterogeneous cohorts in trials</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a:t>
            </a:r>
            <a:r>
              <a:rPr b="0" lang="en-US" sz="2100" spc="-1" strike="noStrike">
                <a:solidFill>
                  <a:schemeClr val="dk1"/>
                </a:solidFill>
                <a:latin typeface="Calibri"/>
              </a:rPr>
              <a:t>Dementia of the Alzheimer type”</a:t>
            </a:r>
            <a:endParaRPr b="0" lang="en-US" sz="2100" spc="-1" strike="noStrike">
              <a:solidFill>
                <a:schemeClr val="dk1"/>
              </a:solidFill>
              <a:latin typeface="Calibri"/>
            </a:endParaRPr>
          </a:p>
        </p:txBody>
      </p:sp>
      <p:sp>
        <p:nvSpPr>
          <p:cNvPr id="92" name="PlaceHolder 3"/>
          <p:cNvSpPr>
            <a:spLocks noGrp="1"/>
          </p:cNvSpPr>
          <p:nvPr>
            <p:ph/>
          </p:nvPr>
        </p:nvSpPr>
        <p:spPr>
          <a:xfrm>
            <a:off x="4648320" y="1200240"/>
            <a:ext cx="4038120" cy="3394080"/>
          </a:xfrm>
          <a:prstGeom prst="rect">
            <a:avLst/>
          </a:prstGeom>
          <a:noFill/>
          <a:ln w="0">
            <a:noFill/>
          </a:ln>
        </p:spPr>
        <p:txBody>
          <a:bodyPr lIns="91440" rIns="91440" tIns="45720" bIns="45720" anchor="t">
            <a:normAutofit fontScale="98073" lnSpcReduction="10000"/>
          </a:bodyPr>
          <a:p>
            <a:pPr indent="0" defTabSz="343080">
              <a:lnSpc>
                <a:spcPct val="100000"/>
              </a:lnSpc>
              <a:spcBef>
                <a:spcPts val="420"/>
              </a:spcBef>
              <a:buNone/>
              <a:tabLst>
                <a:tab algn="l" pos="0"/>
              </a:tabLst>
            </a:pPr>
            <a:r>
              <a:rPr b="1" lang="en-US" sz="2100" spc="-1" strike="noStrike">
                <a:solidFill>
                  <a:schemeClr val="dk1"/>
                </a:solidFill>
                <a:latin typeface="Calibri"/>
              </a:rPr>
              <a:t>The modern way (2018 NIA-AA, 2024 revised criteria)</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Biology defines the disease (Aβ + tau)</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Clinical stage is described separately</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Biomarkers in life: CSF, plasma, PET</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Allows pre-symptomatic diagnosis</a:t>
            </a:r>
            <a:endParaRPr b="0" lang="en-US" sz="2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The biomarker cascade</a:t>
            </a:r>
            <a:endParaRPr b="0" lang="en-US" sz="3300" spc="-1" strike="noStrike">
              <a:solidFill>
                <a:schemeClr val="dk1"/>
              </a:solidFill>
              <a:latin typeface="Calibri"/>
            </a:endParaRPr>
          </a:p>
        </p:txBody>
      </p:sp>
      <p:pic>
        <p:nvPicPr>
          <p:cNvPr id="94" name="Picture 1" descr="Pictures_pptx/biomarker_cascade.png"/>
          <p:cNvPicPr/>
          <p:nvPr/>
        </p:nvPicPr>
        <p:blipFill>
          <a:blip r:embed="rId1"/>
          <a:stretch/>
        </p:blipFill>
        <p:spPr>
          <a:xfrm>
            <a:off x="2324160" y="1193760"/>
            <a:ext cx="4495320" cy="2882520"/>
          </a:xfrm>
          <a:prstGeom prst="rect">
            <a:avLst/>
          </a:prstGeom>
          <a:ln w="9525">
            <a:noFill/>
          </a:ln>
        </p:spPr>
      </p:pic>
      <p:sp>
        <p:nvSpPr>
          <p:cNvPr id="95" name="TextBox 3"/>
          <p:cNvSpPr/>
          <p:nvPr/>
        </p:nvSpPr>
        <p:spPr>
          <a:xfrm>
            <a:off x="457200" y="4076640"/>
            <a:ext cx="8229240" cy="507600"/>
          </a:xfrm>
          <a:prstGeom prst="rect">
            <a:avLst/>
          </a:prstGeom>
          <a:noFill/>
          <a:ln w="0">
            <a:noFill/>
          </a:ln>
        </p:spPr>
        <p:style>
          <a:lnRef idx="0"/>
          <a:fillRef idx="0"/>
          <a:effectRef idx="0"/>
          <a:fontRef idx="minor"/>
        </p:style>
        <p:txBody>
          <a:bodyPr lIns="90000" rIns="90000" tIns="45000" bIns="45000" anchor="t">
            <a:normAutofit fontScale="75000"/>
          </a:bodyPr>
          <a:p>
            <a:pPr algn="ctr" defTabSz="457200">
              <a:lnSpc>
                <a:spcPct val="100000"/>
              </a:lnSpc>
              <a:tabLst>
                <a:tab algn="l" pos="0"/>
              </a:tabLst>
            </a:pPr>
            <a:r>
              <a:rPr b="0" lang="en-US" sz="1800" spc="-1" strike="noStrike">
                <a:solidFill>
                  <a:schemeClr val="dk1"/>
                </a:solidFill>
                <a:latin typeface="Calibri"/>
              </a:rPr>
              <a:t>Jack 2010/2013 biomarker cascade model: Aβ becomes abnormal earliest, then tau, neurodegeneration, cognition, and finally function. Pathology precedes symptoms by 15–20 years.</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Audience poll: higher or lower?</a:t>
            </a:r>
            <a:endParaRPr b="0" lang="en-US" sz="3300" spc="-1" strike="noStrike">
              <a:solidFill>
                <a:schemeClr val="dk1"/>
              </a:solidFill>
              <a:latin typeface="Calibri"/>
            </a:endParaRPr>
          </a:p>
        </p:txBody>
      </p:sp>
      <p:sp>
        <p:nvSpPr>
          <p:cNvPr id="97"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Interactive Slido poll on prevalence estimates. Not reproduced in the handout.</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457200" y="205920"/>
            <a:ext cx="8229240" cy="856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pic>
        <p:nvPicPr>
          <p:cNvPr id="99" name="" descr=""/>
          <p:cNvPicPr/>
          <p:nvPr/>
        </p:nvPicPr>
        <p:blipFill>
          <a:blip r:embed="rId1"/>
          <a:stretch/>
        </p:blipFill>
        <p:spPr>
          <a:xfrm>
            <a:off x="457200" y="1200240"/>
            <a:ext cx="8229240" cy="3394080"/>
          </a:xfrm>
          <a:prstGeom prst="rect">
            <a:avLst/>
          </a:prstGeom>
          <a:ln w="0">
            <a:noFill/>
          </a:ln>
        </p:spPr>
      </p:pic>
      <p:pic>
        <p:nvPicPr>
          <p:cNvPr id="100" name="" descr=""/>
          <p:cNvPicPr/>
          <p:nvPr/>
        </p:nvPicPr>
        <p:blipFill>
          <a:blip r:embed="rId2"/>
          <a:stretch/>
        </p:blipFill>
        <p:spPr>
          <a:xfrm>
            <a:off x="900000" y="540000"/>
            <a:ext cx="7040880" cy="450000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The AT(N)(X) framework</a:t>
            </a:r>
            <a:endParaRPr b="0" lang="en-US" sz="3300" spc="-1" strike="noStrike">
              <a:solidFill>
                <a:schemeClr val="dk1"/>
              </a:solidFill>
              <a:latin typeface="Calibri"/>
            </a:endParaRPr>
          </a:p>
        </p:txBody>
      </p:sp>
      <p:sp>
        <p:nvSpPr>
          <p:cNvPr id="102"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The modern biomarker classification, used to characterise patients independently of clinical stage. Each axis captures a different category of pathology.</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AT(N)(X): A — Amyloid</a:t>
            </a:r>
            <a:endParaRPr b="0" lang="en-US" sz="3300" spc="-1" strike="noStrike">
              <a:solidFill>
                <a:schemeClr val="dk1"/>
              </a:solidFill>
              <a:latin typeface="Calibri"/>
            </a:endParaRPr>
          </a:p>
        </p:txBody>
      </p:sp>
      <p:sp>
        <p:nvSpPr>
          <p:cNvPr id="104"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What it measures: cerebral Aβ pathology.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CSF Aβ42/40 ratio (low = abnormal)</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Plasma Aβ42/40 (replaces some lumbar punctures)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Amyloid-PET (florbetapir, flutemetamol)</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AT(N)(X): T — Tau</a:t>
            </a:r>
            <a:endParaRPr b="0" lang="en-US" sz="3300" spc="-1" strike="noStrike">
              <a:solidFill>
                <a:schemeClr val="dk1"/>
              </a:solidFill>
              <a:latin typeface="Calibri"/>
            </a:endParaRPr>
          </a:p>
        </p:txBody>
      </p:sp>
      <p:sp>
        <p:nvSpPr>
          <p:cNvPr id="106"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What it measures: tau pathology.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CSF p-tau181, p-tau217</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1" lang="en-US" sz="2400" spc="-1" strike="noStrike">
                <a:solidFill>
                  <a:schemeClr val="dk1"/>
                </a:solidFill>
                <a:latin typeface="Calibri"/>
              </a:rPr>
              <a:t>Plasma p-tau217</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Tau-PET (flortaucipir, tracks Braak staging)</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AT(N)(X): N — Neurodegeneration</a:t>
            </a:r>
            <a:endParaRPr b="0" lang="en-US" sz="3300" spc="-1" strike="noStrike">
              <a:solidFill>
                <a:schemeClr val="dk1"/>
              </a:solidFill>
              <a:latin typeface="Calibri"/>
            </a:endParaRPr>
          </a:p>
        </p:txBody>
      </p:sp>
      <p:sp>
        <p:nvSpPr>
          <p:cNvPr id="108"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What it measures: downstream injury, not specific to AD.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Structural MRI atrophy (MTA score)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FDG-PET (temporo-parietal hypometabolism)</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CSF total tau</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AT(N)(X): X — Other</a:t>
            </a:r>
            <a:endParaRPr b="0" lang="en-US" sz="3300" spc="-1" strike="noStrike">
              <a:solidFill>
                <a:schemeClr val="dk1"/>
              </a:solidFill>
              <a:latin typeface="Calibri"/>
            </a:endParaRPr>
          </a:p>
        </p:txBody>
      </p:sp>
      <p:sp>
        <p:nvSpPr>
          <p:cNvPr id="110"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What it measures: vascular, inflammatory, and synaptic axes added in 2024.</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Vascular markers (WMH, infarcts)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Inflammatory (GFAP, astrocyte activation)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Synaptic (neurogranin, SNAP-25)</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Audience poll: question 3</a:t>
            </a:r>
            <a:endParaRPr b="0" lang="en-US" sz="3300" spc="-1" strike="noStrike">
              <a:solidFill>
                <a:schemeClr val="dk1"/>
              </a:solidFill>
              <a:latin typeface="Calibri"/>
            </a:endParaRPr>
          </a:p>
        </p:txBody>
      </p:sp>
      <p:sp>
        <p:nvSpPr>
          <p:cNvPr id="112"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Interactive Slido poll. Not reproduced in the handout.</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fontScale="96377"/>
          </a:bodyPr>
          <a:p>
            <a:pPr indent="0" algn="ctr" defTabSz="343080">
              <a:lnSpc>
                <a:spcPct val="100000"/>
              </a:lnSpc>
              <a:buNone/>
              <a:tabLst>
                <a:tab algn="l" pos="0"/>
              </a:tabLst>
            </a:pPr>
            <a:r>
              <a:rPr b="0" lang="en-US" sz="3300" spc="-1" strike="noStrike">
                <a:solidFill>
                  <a:schemeClr val="dk1"/>
                </a:solidFill>
                <a:latin typeface="Calibri"/>
              </a:rPr>
              <a:t>The global prevalence of dementia is increasing</a:t>
            </a:r>
            <a:endParaRPr b="0" lang="en-US" sz="3300" spc="-1" strike="noStrike">
              <a:solidFill>
                <a:schemeClr val="dk1"/>
              </a:solidFill>
              <a:latin typeface="Calibri"/>
            </a:endParaRPr>
          </a:p>
        </p:txBody>
      </p:sp>
      <p:sp>
        <p:nvSpPr>
          <p:cNvPr id="114"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84133"/>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AD is the most common cause of dementia in individuals older than 65 years of age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In 2020, over 55 million people worldwide were living with neurodegenerative disease at the </a:t>
            </a:r>
            <a:r>
              <a:rPr b="0" i="1" lang="en-US" sz="2400" spc="-1" strike="noStrike">
                <a:solidFill>
                  <a:schemeClr val="dk1"/>
                </a:solidFill>
                <a:latin typeface="Calibri"/>
              </a:rPr>
              <a:t>dementia</a:t>
            </a:r>
            <a:r>
              <a:rPr b="0" lang="en-US" sz="2400" spc="-1" strike="noStrike">
                <a:solidFill>
                  <a:schemeClr val="dk1"/>
                </a:solidFill>
                <a:latin typeface="Calibri"/>
              </a:rPr>
              <a:t> stage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The number is set to rise to </a:t>
            </a:r>
            <a:r>
              <a:rPr b="1" lang="en-US" sz="2400" spc="-1" strike="noStrike">
                <a:solidFill>
                  <a:schemeClr val="dk1"/>
                </a:solidFill>
                <a:latin typeface="Calibri"/>
              </a:rPr>
              <a:t>139 million by 2050</a:t>
            </a:r>
            <a:r>
              <a:rPr b="0" lang="en-US" sz="2400" spc="-1" strike="noStrike">
                <a:solidFill>
                  <a:schemeClr val="dk1"/>
                </a:solidFill>
                <a:latin typeface="Calibri"/>
              </a:rPr>
              <a:t>, with the most significant increases in lower-middle-income (LMIC) countries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Prevalence is likely underestimated because of underdiagnosis and misdiagnosis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Up to three-quarters of those with dementia worldwide have not received a diagnosis</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57.4M to 153M by 2050</a:t>
            </a:r>
            <a:endParaRPr b="0" lang="en-US" sz="3300" spc="-1" strike="noStrike">
              <a:solidFill>
                <a:schemeClr val="dk1"/>
              </a:solidFill>
              <a:latin typeface="Calibri"/>
            </a:endParaRPr>
          </a:p>
        </p:txBody>
      </p:sp>
      <p:sp>
        <p:nvSpPr>
          <p:cNvPr id="116" name="TextBox 3"/>
          <p:cNvSpPr/>
          <p:nvPr/>
        </p:nvSpPr>
        <p:spPr>
          <a:xfrm>
            <a:off x="457200" y="4076640"/>
            <a:ext cx="8229240" cy="507600"/>
          </a:xfrm>
          <a:prstGeom prst="rect">
            <a:avLst/>
          </a:prstGeom>
          <a:noFill/>
          <a:ln w="0">
            <a:noFill/>
          </a:ln>
        </p:spPr>
        <p:style>
          <a:lnRef idx="0"/>
          <a:fillRef idx="0"/>
          <a:effectRef idx="0"/>
          <a:fontRef idx="minor"/>
        </p:style>
        <p:txBody>
          <a:bodyPr lIns="90000" rIns="90000" tIns="45000" bIns="45000" anchor="t">
            <a:normAutofit fontScale="75000"/>
          </a:bodyPr>
          <a:p>
            <a:pPr algn="ctr" defTabSz="457200">
              <a:lnSpc>
                <a:spcPct val="100000"/>
              </a:lnSpc>
              <a:tabLst>
                <a:tab algn="l" pos="0"/>
              </a:tabLst>
            </a:pPr>
            <a:r>
              <a:rPr b="0" lang="en-US" sz="1800" spc="-1" strike="noStrike">
                <a:solidFill>
                  <a:schemeClr val="dk1"/>
                </a:solidFill>
                <a:latin typeface="Calibri"/>
              </a:rPr>
              <a:t>Global dementia prevalence 2020 (~55–57M) versus projected 2050 figure (~139–153M), with the largest growth in LMIC countries.</a:t>
            </a:r>
            <a:endParaRPr b="0" lang="en-GB" sz="1800" spc="-1" strike="noStrike">
              <a:solidFill>
                <a:srgbClr val="000000"/>
              </a:solidFill>
              <a:latin typeface="Arial"/>
            </a:endParaRPr>
          </a:p>
        </p:txBody>
      </p:sp>
      <p:pic>
        <p:nvPicPr>
          <p:cNvPr id="117" name="" descr=""/>
          <p:cNvPicPr/>
          <p:nvPr/>
        </p:nvPicPr>
        <p:blipFill>
          <a:blip r:embed="rId1"/>
          <a:stretch/>
        </p:blipFill>
        <p:spPr>
          <a:xfrm>
            <a:off x="1800000" y="1016640"/>
            <a:ext cx="5681880" cy="306000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Regions of greatest change</a:t>
            </a:r>
            <a:endParaRPr b="0" lang="en-US" sz="3300" spc="-1" strike="noStrike">
              <a:solidFill>
                <a:schemeClr val="dk1"/>
              </a:solidFill>
              <a:latin typeface="Calibri"/>
            </a:endParaRPr>
          </a:p>
        </p:txBody>
      </p:sp>
      <p:sp>
        <p:nvSpPr>
          <p:cNvPr id="119"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The largest projected increases are in: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North Africa and the Middle East</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Sub-Saharan Africa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South Asia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Latin America</a:t>
            </a:r>
            <a:endParaRPr b="0" lang="en-US" sz="2400" spc="-1" strike="noStrike">
              <a:solidFill>
                <a:schemeClr val="dk1"/>
              </a:solidFill>
              <a:latin typeface="Calibri"/>
            </a:endParaRPr>
          </a:p>
          <a:p>
            <a:pPr indent="0" defTabSz="343080">
              <a:lnSpc>
                <a:spcPct val="100000"/>
              </a:lnSpc>
              <a:spcBef>
                <a:spcPts val="479"/>
              </a:spcBef>
              <a:buNone/>
              <a:tabLst>
                <a:tab algn="l" pos="0"/>
              </a:tabLst>
            </a:pPr>
            <a:r>
              <a:rPr b="0" lang="en-US" sz="2400" spc="-1" strike="noStrike">
                <a:solidFill>
                  <a:schemeClr val="dk1"/>
                </a:solidFill>
                <a:latin typeface="Calibri"/>
              </a:rPr>
              <a:t>This reflects ageing populations in regions with limited diagnostic infrastructure.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fontScale="96377"/>
          </a:bodyPr>
          <a:p>
            <a:pPr indent="0" algn="ctr" defTabSz="343080">
              <a:lnSpc>
                <a:spcPct val="100000"/>
              </a:lnSpc>
              <a:buNone/>
              <a:tabLst>
                <a:tab algn="l" pos="0"/>
              </a:tabLst>
            </a:pPr>
            <a:r>
              <a:rPr b="0" lang="en-US" sz="3300" spc="-1" strike="noStrike">
                <a:solidFill>
                  <a:schemeClr val="dk1"/>
                </a:solidFill>
                <a:latin typeface="Calibri"/>
              </a:rPr>
              <a:t>Historical development of AD diagnostic criteria</a:t>
            </a:r>
            <a:endParaRPr b="0" lang="en-US" sz="3300" spc="-1" strike="noStrike">
              <a:solidFill>
                <a:schemeClr val="dk1"/>
              </a:solidFill>
              <a:latin typeface="Calibri"/>
            </a:endParaRPr>
          </a:p>
        </p:txBody>
      </p:sp>
      <p:sp>
        <p:nvSpPr>
          <p:cNvPr id="121" name="PlaceHolder 2"/>
          <p:cNvSpPr>
            <a:spLocks noGrp="1"/>
          </p:cNvSpPr>
          <p:nvPr>
            <p:ph/>
          </p:nvPr>
        </p:nvSpPr>
        <p:spPr>
          <a:xfrm>
            <a:off x="457200" y="1200240"/>
            <a:ext cx="4038120" cy="3394080"/>
          </a:xfrm>
          <a:prstGeom prst="rect">
            <a:avLst/>
          </a:prstGeom>
          <a:noFill/>
          <a:ln w="0">
            <a:noFill/>
          </a:ln>
        </p:spPr>
        <p:txBody>
          <a:bodyPr lIns="91440" rIns="91440" tIns="45720" bIns="45720" anchor="t">
            <a:normAutofit/>
          </a:bodyPr>
          <a:p>
            <a:pPr marL="34308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The 2023 revised criteria emphasises that AD is defined by its biology</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Only biomarkers proven to be accurate against an accepted reference standard should be used for diagnosis</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Biomarker tests should always be interpreted with clinical judgment</a:t>
            </a:r>
            <a:endParaRPr b="0" lang="en-US" sz="2100" spc="-1" strike="noStrike">
              <a:solidFill>
                <a:schemeClr val="dk1"/>
              </a:solidFill>
              <a:latin typeface="Calibri"/>
            </a:endParaRPr>
          </a:p>
        </p:txBody>
      </p:sp>
      <p:sp>
        <p:nvSpPr>
          <p:cNvPr id="122" name="PlaceHolder 3"/>
          <p:cNvSpPr>
            <a:spLocks noGrp="1"/>
          </p:cNvSpPr>
          <p:nvPr>
            <p:ph/>
          </p:nvPr>
        </p:nvSpPr>
        <p:spPr>
          <a:xfrm>
            <a:off x="4648320" y="1200240"/>
            <a:ext cx="4038120" cy="3394080"/>
          </a:xfrm>
          <a:prstGeom prst="rect">
            <a:avLst/>
          </a:prstGeom>
          <a:noFill/>
          <a:ln w="0">
            <a:noFill/>
          </a:ln>
        </p:spPr>
        <p:txBody>
          <a:bodyPr lIns="91440" rIns="91440" tIns="45720" bIns="45720" anchor="t">
            <a:normAutofit fontScale="93312" lnSpcReduction="10000"/>
          </a:bodyPr>
          <a:p>
            <a:pPr indent="0" defTabSz="343080">
              <a:lnSpc>
                <a:spcPct val="100000"/>
              </a:lnSpc>
              <a:spcBef>
                <a:spcPts val="420"/>
              </a:spcBef>
              <a:buNone/>
              <a:tabLst>
                <a:tab algn="l" pos="0"/>
              </a:tabLst>
            </a:pPr>
            <a:r>
              <a:rPr b="0" lang="en-US" sz="2100" spc="-1" strike="noStrike">
                <a:solidFill>
                  <a:schemeClr val="dk1"/>
                </a:solidFill>
                <a:latin typeface="Calibri"/>
              </a:rPr>
              <a:t>The clinician’s expertise is crucial in three situations:</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AutoNum type="arabicPeriod"/>
              <a:tabLst>
                <a:tab algn="l" pos="0"/>
              </a:tabLst>
            </a:pPr>
            <a:r>
              <a:rPr b="0" lang="en-US" sz="2100" spc="-1" strike="noStrike">
                <a:solidFill>
                  <a:schemeClr val="dk1"/>
                </a:solidFill>
                <a:latin typeface="Calibri"/>
              </a:rPr>
              <a:t>When the biomarker test result contradicts the clinical presentation</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AutoNum type="arabicPeriod"/>
              <a:tabLst>
                <a:tab algn="l" pos="0"/>
              </a:tabLst>
            </a:pPr>
            <a:r>
              <a:rPr b="0" lang="en-US" sz="2100" spc="-1" strike="noStrike">
                <a:solidFill>
                  <a:schemeClr val="dk1"/>
                </a:solidFill>
                <a:latin typeface="Calibri"/>
              </a:rPr>
              <a:t>When evaluating the probable contribution of AD versus other pathologies</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AutoNum type="arabicPeriod"/>
              <a:tabLst>
                <a:tab algn="l" pos="0"/>
              </a:tabLst>
            </a:pPr>
            <a:r>
              <a:rPr b="0" lang="en-US" sz="2100" spc="-1" strike="noStrike">
                <a:solidFill>
                  <a:schemeClr val="dk1"/>
                </a:solidFill>
                <a:latin typeface="Calibri"/>
              </a:rPr>
              <a:t>When assessing how other medical conditions could impact the biomarker results</a:t>
            </a:r>
            <a:endParaRPr b="0" lang="en-US" sz="2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AD diagnostic biomarkers</a:t>
            </a:r>
            <a:endParaRPr b="0" lang="en-US" sz="3300" spc="-1" strike="noStrike">
              <a:solidFill>
                <a:schemeClr val="dk1"/>
              </a:solidFill>
              <a:latin typeface="Calibri"/>
            </a:endParaRPr>
          </a:p>
        </p:txBody>
      </p:sp>
      <p:sp>
        <p:nvSpPr>
          <p:cNvPr id="124" name="PlaceHolder 2"/>
          <p:cNvSpPr>
            <a:spLocks noGrp="1"/>
          </p:cNvSpPr>
          <p:nvPr>
            <p:ph/>
          </p:nvPr>
        </p:nvSpPr>
        <p:spPr>
          <a:xfrm>
            <a:off x="457200" y="1200240"/>
            <a:ext cx="4038120" cy="3394080"/>
          </a:xfrm>
          <a:prstGeom prst="rect">
            <a:avLst/>
          </a:prstGeom>
          <a:noFill/>
          <a:ln w="0">
            <a:noFill/>
          </a:ln>
        </p:spPr>
        <p:txBody>
          <a:bodyPr lIns="91440" rIns="91440" tIns="45720" bIns="45720" anchor="t">
            <a:normAutofit/>
          </a:bodyPr>
          <a:p>
            <a:pPr indent="0" defTabSz="343080">
              <a:lnSpc>
                <a:spcPct val="100000"/>
              </a:lnSpc>
              <a:spcBef>
                <a:spcPts val="420"/>
              </a:spcBef>
              <a:buNone/>
              <a:tabLst>
                <a:tab algn="l" pos="0"/>
              </a:tabLst>
            </a:pPr>
            <a:r>
              <a:rPr b="1" lang="en-US" sz="2100" spc="-1" strike="noStrike">
                <a:solidFill>
                  <a:schemeClr val="dk1"/>
                </a:solidFill>
                <a:latin typeface="Calibri"/>
              </a:rPr>
              <a:t>Core 1</a:t>
            </a:r>
            <a:r>
              <a:rPr b="0" lang="en-US" sz="2100" spc="-1" strike="noStrike">
                <a:solidFill>
                  <a:schemeClr val="dk1"/>
                </a:solidFill>
                <a:latin typeface="Calibri"/>
              </a:rPr>
              <a:t> (currently accepted for diagnosis)</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CSF Aβ42/40</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CSF p-tau181/Aβ42</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CSF t-tau/Aβ42</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Accurate plasma assays</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Amyloid-PET</a:t>
            </a:r>
            <a:endParaRPr b="0" lang="en-US" sz="2100" spc="-1" strike="noStrike">
              <a:solidFill>
                <a:schemeClr val="dk1"/>
              </a:solidFill>
              <a:latin typeface="Calibri"/>
            </a:endParaRPr>
          </a:p>
        </p:txBody>
      </p:sp>
      <p:sp>
        <p:nvSpPr>
          <p:cNvPr id="125" name="PlaceHolder 3"/>
          <p:cNvSpPr>
            <a:spLocks noGrp="1"/>
          </p:cNvSpPr>
          <p:nvPr>
            <p:ph/>
          </p:nvPr>
        </p:nvSpPr>
        <p:spPr>
          <a:xfrm>
            <a:off x="4648320" y="1200240"/>
            <a:ext cx="4038120" cy="3394080"/>
          </a:xfrm>
          <a:prstGeom prst="rect">
            <a:avLst/>
          </a:prstGeom>
          <a:noFill/>
          <a:ln w="0">
            <a:noFill/>
          </a:ln>
        </p:spPr>
        <p:txBody>
          <a:bodyPr lIns="91440" rIns="91440" tIns="45720" bIns="45720" anchor="t">
            <a:normAutofit/>
          </a:bodyPr>
          <a:p>
            <a:pPr indent="0" defTabSz="343080">
              <a:lnSpc>
                <a:spcPct val="100000"/>
              </a:lnSpc>
              <a:spcBef>
                <a:spcPts val="420"/>
              </a:spcBef>
              <a:buNone/>
              <a:tabLst>
                <a:tab algn="l" pos="0"/>
              </a:tabLst>
            </a:pPr>
            <a:r>
              <a:rPr b="1" lang="en-US" sz="2100" spc="-1" strike="noStrike">
                <a:solidFill>
                  <a:schemeClr val="dk1"/>
                </a:solidFill>
                <a:latin typeface="Calibri"/>
              </a:rPr>
              <a:t>Core 2</a:t>
            </a:r>
            <a:r>
              <a:rPr b="0" lang="en-US" sz="2100" spc="-1" strike="noStrike">
                <a:solidFill>
                  <a:schemeClr val="dk1"/>
                </a:solidFill>
                <a:latin typeface="Calibri"/>
              </a:rPr>
              <a:t> (emerging / research-grade)</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Plasma p-tau217 (near-CSF accuracy)</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Plasma MTBR-tau243</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GFAP (astrocyte activation)</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NfL (non-specific neurodegeneration)</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Tau-PET (Braak staging in life)</a:t>
            </a:r>
            <a:endParaRPr b="0" lang="en-US" sz="2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Differential diagnosis</a:t>
            </a:r>
            <a:endParaRPr b="0" lang="en-US" sz="3300" spc="-1" strike="noStrike">
              <a:solidFill>
                <a:schemeClr val="dk1"/>
              </a:solidFill>
              <a:latin typeface="Calibri"/>
            </a:endParaRPr>
          </a:p>
        </p:txBody>
      </p:sp>
      <p:sp>
        <p:nvSpPr>
          <p:cNvPr id="127"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In the rest of this section: the four most common dementia subtypes side by side. The handout shows one slide per subtype.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Differential diagnosis: AD</a:t>
            </a:r>
            <a:endParaRPr b="0" lang="en-US" sz="3300" spc="-1" strike="noStrike">
              <a:solidFill>
                <a:schemeClr val="dk1"/>
              </a:solidFill>
              <a:latin typeface="Calibri"/>
            </a:endParaRPr>
          </a:p>
        </p:txBody>
      </p:sp>
      <p:sp>
        <p:nvSpPr>
          <p:cNvPr id="129"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Onset</a:t>
            </a:r>
            <a:r>
              <a:rPr b="0" lang="en-US" sz="2400" spc="-1" strike="noStrike">
                <a:solidFill>
                  <a:schemeClr val="dk1"/>
                </a:solidFill>
                <a:latin typeface="Calibri"/>
              </a:rPr>
              <a:t>: insidious, episodic memory first</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Signature</a:t>
            </a:r>
            <a:r>
              <a:rPr b="0" lang="en-US" sz="2400" spc="-1" strike="noStrike">
                <a:solidFill>
                  <a:schemeClr val="dk1"/>
                </a:solidFill>
                <a:latin typeface="Calibri"/>
              </a:rPr>
              <a:t>: temporo-parietal cognition; language; getting lost</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Imaging</a:t>
            </a:r>
            <a:r>
              <a:rPr b="0" lang="en-US" sz="2400" spc="-1" strike="noStrike">
                <a:solidFill>
                  <a:schemeClr val="dk1"/>
                </a:solidFill>
                <a:latin typeface="Calibri"/>
              </a:rPr>
              <a:t>: medial temporal and parietal atrophy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Treatment cue</a:t>
            </a:r>
            <a:r>
              <a:rPr b="0" lang="en-US" sz="2400" spc="-1" strike="noStrike">
                <a:solidFill>
                  <a:schemeClr val="dk1"/>
                </a:solidFill>
                <a:latin typeface="Calibri"/>
              </a:rPr>
              <a:t>: AChEi and memantine; now anti-amyloid eligible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Differential diagnosis: DLB</a:t>
            </a:r>
            <a:endParaRPr b="0" lang="en-US" sz="3300" spc="-1" strike="noStrike">
              <a:solidFill>
                <a:schemeClr val="dk1"/>
              </a:solidFill>
              <a:latin typeface="Calibri"/>
            </a:endParaRPr>
          </a:p>
        </p:txBody>
      </p:sp>
      <p:sp>
        <p:nvSpPr>
          <p:cNvPr id="131"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Onset</a:t>
            </a:r>
            <a:r>
              <a:rPr b="0" lang="en-US" sz="2400" spc="-1" strike="noStrike">
                <a:solidFill>
                  <a:schemeClr val="dk1"/>
                </a:solidFill>
                <a:latin typeface="Calibri"/>
              </a:rPr>
              <a:t>: fluctuating cognition, visual hallucinations, REM sleep behaviour disorder, parkinsonism</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Signature</a:t>
            </a:r>
            <a:r>
              <a:rPr b="0" lang="en-US" sz="2400" spc="-1" strike="noStrike">
                <a:solidFill>
                  <a:schemeClr val="dk1"/>
                </a:solidFill>
                <a:latin typeface="Calibri"/>
              </a:rPr>
              <a:t>: attention/executive &gt; memory early; very neuroleptic-sensitive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Imaging</a:t>
            </a:r>
            <a:r>
              <a:rPr b="0" lang="en-US" sz="2400" spc="-1" strike="noStrike">
                <a:solidFill>
                  <a:schemeClr val="dk1"/>
                </a:solidFill>
                <a:latin typeface="Calibri"/>
              </a:rPr>
              <a:t>: relatively preserved MTL; DAT scan abnormal</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Treatment cue</a:t>
            </a:r>
            <a:r>
              <a:rPr b="0" lang="en-US" sz="2400" spc="-1" strike="noStrike">
                <a:solidFill>
                  <a:schemeClr val="dk1"/>
                </a:solidFill>
                <a:latin typeface="Calibri"/>
              </a:rPr>
              <a:t>: rivastigmine often helpful; </a:t>
            </a:r>
            <a:r>
              <a:rPr b="1" lang="en-US" sz="2400" spc="-1" strike="noStrike">
                <a:solidFill>
                  <a:schemeClr val="dk1"/>
                </a:solidFill>
                <a:latin typeface="Calibri"/>
              </a:rPr>
              <a:t>avoid antipsychotics</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Differential diagnosis: FTD</a:t>
            </a:r>
            <a:endParaRPr b="0" lang="en-US" sz="3300" spc="-1" strike="noStrike">
              <a:solidFill>
                <a:schemeClr val="dk1"/>
              </a:solidFill>
              <a:latin typeface="Calibri"/>
            </a:endParaRPr>
          </a:p>
        </p:txBody>
      </p:sp>
      <p:sp>
        <p:nvSpPr>
          <p:cNvPr id="133"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Onset</a:t>
            </a:r>
            <a:r>
              <a:rPr b="0" lang="en-US" sz="2400" spc="-1" strike="noStrike">
                <a:solidFill>
                  <a:schemeClr val="dk1"/>
                </a:solidFill>
                <a:latin typeface="Calibri"/>
              </a:rPr>
              <a:t>: typically &lt;65 y; behavioural variant or primary progressive aphasia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Signature</a:t>
            </a:r>
            <a:r>
              <a:rPr b="0" lang="en-US" sz="2400" spc="-1" strike="noStrike">
                <a:solidFill>
                  <a:schemeClr val="dk1"/>
                </a:solidFill>
                <a:latin typeface="Calibri"/>
              </a:rPr>
              <a:t>: disinhibition, apathy, loss of empathy, dietary change (bvFTD)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Imaging</a:t>
            </a:r>
            <a:r>
              <a:rPr b="0" lang="en-US" sz="2400" spc="-1" strike="noStrike">
                <a:solidFill>
                  <a:schemeClr val="dk1"/>
                </a:solidFill>
                <a:latin typeface="Calibri"/>
              </a:rPr>
              <a:t>: frontal / anterior temporal atrophy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Treatment cue</a:t>
            </a:r>
            <a:r>
              <a:rPr b="0" lang="en-US" sz="2400" spc="-1" strike="noStrike">
                <a:solidFill>
                  <a:schemeClr val="dk1"/>
                </a:solidFill>
                <a:latin typeface="Calibri"/>
              </a:rPr>
              <a:t>: AChEi unhelpful or may worsen behaviour; SSRIs and environmental management</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Differential diagnosis: VaD</a:t>
            </a:r>
            <a:endParaRPr b="0" lang="en-US" sz="3300" spc="-1" strike="noStrike">
              <a:solidFill>
                <a:schemeClr val="dk1"/>
              </a:solidFill>
              <a:latin typeface="Calibri"/>
            </a:endParaRPr>
          </a:p>
        </p:txBody>
      </p:sp>
      <p:sp>
        <p:nvSpPr>
          <p:cNvPr id="135"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Onset</a:t>
            </a:r>
            <a:r>
              <a:rPr b="0" lang="en-US" sz="2400" spc="-1" strike="noStrike">
                <a:solidFill>
                  <a:schemeClr val="dk1"/>
                </a:solidFill>
                <a:latin typeface="Calibri"/>
              </a:rPr>
              <a:t>: stepwise, after vascular events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Signature</a:t>
            </a:r>
            <a:r>
              <a:rPr b="0" lang="en-US" sz="2400" spc="-1" strike="noStrike">
                <a:solidFill>
                  <a:schemeClr val="dk1"/>
                </a:solidFill>
                <a:latin typeface="Calibri"/>
              </a:rPr>
              <a:t>: executive dysfunction, slowed processing, focal neurology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Imaging</a:t>
            </a:r>
            <a:r>
              <a:rPr b="0" lang="en-US" sz="2400" spc="-1" strike="noStrike">
                <a:solidFill>
                  <a:schemeClr val="dk1"/>
                </a:solidFill>
                <a:latin typeface="Calibri"/>
              </a:rPr>
              <a:t>: infarcts, white matter hyperintensities, microbleeds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Treatment cue</a:t>
            </a:r>
            <a:r>
              <a:rPr b="0" lang="en-US" sz="2400" spc="-1" strike="noStrike">
                <a:solidFill>
                  <a:schemeClr val="dk1"/>
                </a:solidFill>
                <a:latin typeface="Calibri"/>
              </a:rPr>
              <a:t>: aggressive vascular risk control; modest AChEi benefit</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Reversible mimics</a:t>
            </a:r>
            <a:endParaRPr b="0" lang="en-US" sz="3300" spc="-1" strike="noStrike">
              <a:solidFill>
                <a:schemeClr val="dk1"/>
              </a:solidFill>
              <a:latin typeface="Calibri"/>
            </a:endParaRPr>
          </a:p>
        </p:txBody>
      </p:sp>
      <p:sp>
        <p:nvSpPr>
          <p:cNvPr id="137"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87465" lnSpcReduction="10000"/>
          </a:bodyPr>
          <a:p>
            <a:pPr marL="1270080" indent="0" defTabSz="343080">
              <a:lnSpc>
                <a:spcPct val="100000"/>
              </a:lnSpc>
              <a:spcBef>
                <a:spcPts val="400"/>
              </a:spcBef>
              <a:buNone/>
              <a:tabLst>
                <a:tab algn="l" pos="0"/>
              </a:tabLst>
            </a:pPr>
            <a:r>
              <a:rPr b="1" lang="en-US" sz="2000" spc="-1" strike="noStrike">
                <a:solidFill>
                  <a:schemeClr val="dk1"/>
                </a:solidFill>
                <a:latin typeface="Calibri"/>
              </a:rPr>
              <a:t>Always rule out treatable contributors to cognitive impairment:</a:t>
            </a:r>
            <a:endParaRPr b="0" lang="en-US" sz="20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B12 / folate deficiency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Hypothyroidism</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Depression (pseudo-dementia)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Normal pressure hydrocephalus (gait, urinary, cognitive)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Drug effects (anticholinergics, benzodiazepines, opioids)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Delirium (often superimposed)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Obstructive sleep apnoea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Subdural haematoma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Alcohol misuse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Assessment</a:t>
            </a:r>
            <a:endParaRPr b="0" lang="en-US" sz="3300" spc="-1" strike="noStrike">
              <a:solidFill>
                <a:schemeClr val="dk1"/>
              </a:solidFill>
              <a:latin typeface="Calibri"/>
            </a:endParaRPr>
          </a:p>
        </p:txBody>
      </p:sp>
      <p:sp>
        <p:nvSpPr>
          <p:cNvPr id="139"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The full assessment in the live deck is a tabset; the handout shows one slide per assessment domain.</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Assessment: Clinical history</a:t>
            </a:r>
            <a:endParaRPr b="0" lang="en-US" sz="3300" spc="-1" strike="noStrike">
              <a:solidFill>
                <a:schemeClr val="dk1"/>
              </a:solidFill>
              <a:latin typeface="Calibri"/>
            </a:endParaRPr>
          </a:p>
        </p:txBody>
      </p:sp>
      <p:sp>
        <p:nvSpPr>
          <p:cNvPr id="141"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58726"/>
          </a:bodyPr>
          <a:p>
            <a:pPr indent="0" defTabSz="343080">
              <a:lnSpc>
                <a:spcPct val="100000"/>
              </a:lnSpc>
              <a:spcBef>
                <a:spcPts val="479"/>
              </a:spcBef>
              <a:buNone/>
              <a:tabLst>
                <a:tab algn="l" pos="0"/>
              </a:tabLst>
            </a:pPr>
            <a:r>
              <a:rPr b="0" lang="en-US" sz="2400" spc="-1" strike="noStrike">
                <a:solidFill>
                  <a:schemeClr val="dk1"/>
                </a:solidFill>
                <a:latin typeface="Calibri"/>
              </a:rPr>
              <a:t>Medical history from the patient and collateral history from an appropriate informant.</a:t>
            </a:r>
            <a:endParaRPr b="0" lang="en-US" sz="2400" spc="-1" strike="noStrike">
              <a:solidFill>
                <a:schemeClr val="dk1"/>
              </a:solidFill>
              <a:latin typeface="Calibri"/>
            </a:endParaRPr>
          </a:p>
          <a:p>
            <a:pPr indent="0" defTabSz="343080">
              <a:lnSpc>
                <a:spcPct val="100000"/>
              </a:lnSpc>
              <a:spcBef>
                <a:spcPts val="479"/>
              </a:spcBef>
              <a:buNone/>
              <a:tabLst>
                <a:tab algn="l" pos="0"/>
              </a:tabLst>
            </a:pPr>
            <a:r>
              <a:rPr b="1" lang="en-US" sz="2400" spc="-1" strike="noStrike">
                <a:solidFill>
                  <a:schemeClr val="dk1"/>
                </a:solidFill>
                <a:latin typeface="Calibri"/>
              </a:rPr>
              <a:t>Background factors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Educational attainment — quantitative and qualitative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Occupational attainment — manual / skilled / professional</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Head injury or contact sports (rugby, boxing)</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Lifetime alcohol and substance use — peak and sustained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Smoking history</a:t>
            </a:r>
            <a:endParaRPr b="0" lang="en-US" sz="2400" spc="-1" strike="noStrike">
              <a:solidFill>
                <a:schemeClr val="dk1"/>
              </a:solidFill>
              <a:latin typeface="Calibri"/>
            </a:endParaRPr>
          </a:p>
          <a:p>
            <a:pPr indent="0" defTabSz="343080">
              <a:lnSpc>
                <a:spcPct val="100000"/>
              </a:lnSpc>
              <a:spcBef>
                <a:spcPts val="479"/>
              </a:spcBef>
              <a:buNone/>
              <a:tabLst>
                <a:tab algn="l" pos="0"/>
              </a:tabLst>
            </a:pPr>
            <a:r>
              <a:rPr b="1" lang="en-US" sz="2400" spc="-1" strike="noStrike">
                <a:solidFill>
                  <a:schemeClr val="dk1"/>
                </a:solidFill>
                <a:latin typeface="Calibri"/>
              </a:rPr>
              <a:t>Cognitive features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Rapid forgetfulness, repetitive questioning</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Loss of recent memory with relative preservation of remote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Functional decline (IADLs first, then ADLs)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BPSD (agitation, depression, sleep)</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Assessment: Cognitive examination</a:t>
            </a:r>
            <a:endParaRPr b="0" lang="en-US" sz="3300" spc="-1" strike="noStrike">
              <a:solidFill>
                <a:schemeClr val="dk1"/>
              </a:solidFill>
              <a:latin typeface="Calibri"/>
            </a:endParaRPr>
          </a:p>
        </p:txBody>
      </p:sp>
      <p:sp>
        <p:nvSpPr>
          <p:cNvPr id="143"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A cognitive, functional, behavioural and mental state examination, preferably using validated assessment scales.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RBANS — sensitive to different sorts of decline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Addenbrookes’ Cognitive Evaluation (III) — used in 90% of UK memory clinics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Mini Mental State Examination — insensitive to early decline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Montreal Cognitive Assessment — better than MMSE, retains ceiling effects</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Assessment: Examination</a:t>
            </a:r>
            <a:endParaRPr b="0" lang="en-US" sz="3300" spc="-1" strike="noStrike">
              <a:solidFill>
                <a:schemeClr val="dk1"/>
              </a:solidFill>
              <a:latin typeface="Calibri"/>
            </a:endParaRPr>
          </a:p>
        </p:txBody>
      </p:sp>
      <p:sp>
        <p:nvSpPr>
          <p:cNvPr id="145"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Physical examination, laboratory tests (to exclude comorbid conditions that may be impairing cognitive function), and review of medication (to identify drugs that may be impairing cognitive function).</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Assessment: Neuroimaging</a:t>
            </a:r>
            <a:endParaRPr b="0" lang="en-US" sz="3300" spc="-1" strike="noStrike">
              <a:solidFill>
                <a:schemeClr val="dk1"/>
              </a:solidFill>
              <a:latin typeface="Calibri"/>
            </a:endParaRPr>
          </a:p>
        </p:txBody>
      </p:sp>
      <p:sp>
        <p:nvSpPr>
          <p:cNvPr id="147"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Structural MRI</a:t>
            </a:r>
            <a:r>
              <a:rPr b="0" lang="en-US" sz="2400" spc="-1" strike="noStrike">
                <a:solidFill>
                  <a:schemeClr val="dk1"/>
                </a:solidFill>
                <a:latin typeface="Calibri"/>
              </a:rPr>
              <a:t> (first-line): medial temporal atrophy (MTA score), parietal atrophy (Koedam), white-matter disease, microbleeds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FDG-PET</a:t>
            </a:r>
            <a:r>
              <a:rPr b="0" lang="en-US" sz="2400" spc="-1" strike="noStrike">
                <a:solidFill>
                  <a:schemeClr val="dk1"/>
                </a:solidFill>
                <a:latin typeface="Calibri"/>
              </a:rPr>
              <a:t>: temporo-parietal hypometabolism in AD; frontal in FTD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Amyloid-PET</a:t>
            </a:r>
            <a:r>
              <a:rPr b="0" lang="en-US" sz="2400" spc="-1" strike="noStrike">
                <a:solidFill>
                  <a:schemeClr val="dk1"/>
                </a:solidFill>
                <a:latin typeface="Calibri"/>
              </a:rPr>
              <a:t>: confirms or excludes Aβ pathology in life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Tau-PET</a:t>
            </a:r>
            <a:r>
              <a:rPr b="0" lang="en-US" sz="2400" spc="-1" strike="noStrike">
                <a:solidFill>
                  <a:schemeClr val="dk1"/>
                </a:solidFill>
                <a:latin typeface="Calibri"/>
              </a:rPr>
              <a:t>: research and disease-modifying treatment selection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DAT scan</a:t>
            </a:r>
            <a:r>
              <a:rPr b="0" lang="en-US" sz="2400" spc="-1" strike="noStrike">
                <a:solidFill>
                  <a:schemeClr val="dk1"/>
                </a:solidFill>
                <a:latin typeface="Calibri"/>
              </a:rPr>
              <a:t>: supports DLB when uncertain</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Assessment: Biomarkers</a:t>
            </a:r>
            <a:endParaRPr b="0" lang="en-US" sz="3300" spc="-1" strike="noStrike">
              <a:solidFill>
                <a:schemeClr val="dk1"/>
              </a:solidFill>
              <a:latin typeface="Calibri"/>
            </a:endParaRPr>
          </a:p>
        </p:txBody>
      </p:sp>
      <p:sp>
        <p:nvSpPr>
          <p:cNvPr id="149"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CSF panel</a:t>
            </a:r>
            <a:r>
              <a:rPr b="0" lang="en-US" sz="2400" spc="-1" strike="noStrike">
                <a:solidFill>
                  <a:schemeClr val="dk1"/>
                </a:solidFill>
                <a:latin typeface="Calibri"/>
              </a:rPr>
              <a:t>: Aβ42/40, p-tau181, t-tau (requires lumbar puncture)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Plasma p-tau217</a:t>
            </a:r>
            <a:r>
              <a:rPr b="0" lang="en-US" sz="2400" spc="-1" strike="noStrike">
                <a:solidFill>
                  <a:schemeClr val="dk1"/>
                </a:solidFill>
                <a:latin typeface="Calibri"/>
              </a:rPr>
              <a:t>: near-CSF accuracy, primary care feasible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Plasma Aβ42/40, GFAP, NfL</a:t>
            </a:r>
            <a:r>
              <a:rPr b="0" lang="en-US" sz="2400" spc="-1" strike="noStrike">
                <a:solidFill>
                  <a:schemeClr val="dk1"/>
                </a:solidFill>
                <a:latin typeface="Calibri"/>
              </a:rPr>
              <a:t>: pre-screening tools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APOE genotyping</a:t>
            </a:r>
            <a:r>
              <a:rPr b="0" lang="en-US" sz="2400" spc="-1" strike="noStrike">
                <a:solidFill>
                  <a:schemeClr val="dk1"/>
                </a:solidFill>
                <a:latin typeface="Calibri"/>
              </a:rPr>
              <a:t>: risk stratification; mandatory before anti-amyloid antibodies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Genetic testing</a:t>
            </a:r>
            <a:r>
              <a:rPr b="0" lang="en-US" sz="2400" spc="-1" strike="noStrike">
                <a:solidFill>
                  <a:schemeClr val="dk1"/>
                </a:solidFill>
                <a:latin typeface="Calibri"/>
              </a:rPr>
              <a:t>: </a:t>
            </a:r>
            <a:r>
              <a:rPr b="0" i="1" lang="en-US" sz="2400" spc="-1" strike="noStrike">
                <a:solidFill>
                  <a:schemeClr val="dk1"/>
                </a:solidFill>
                <a:latin typeface="Calibri"/>
              </a:rPr>
              <a:t>APP, PSEN1, PSEN2</a:t>
            </a:r>
            <a:r>
              <a:rPr b="0" lang="en-US" sz="2400" spc="-1" strike="noStrike">
                <a:solidFill>
                  <a:schemeClr val="dk1"/>
                </a:solidFill>
                <a:latin typeface="Calibri"/>
              </a:rPr>
              <a:t> in early-onset / familial cases</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Part 2 — Symptomatic treatments</a:t>
            </a:r>
            <a:endParaRPr b="0" lang="en-US" sz="3300" spc="-1" strike="noStrike">
              <a:solidFill>
                <a:schemeClr val="dk1"/>
              </a:solidFill>
              <a:latin typeface="Calibri"/>
            </a:endParaRPr>
          </a:p>
        </p:txBody>
      </p:sp>
      <p:sp>
        <p:nvSpPr>
          <p:cNvPr id="151"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The development of a field over fifty years, from the cholinergic hypothesis to brexpiprazole.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The cholinergic hypothesis (1976)</a:t>
            </a:r>
            <a:endParaRPr b="0" lang="en-US" sz="3300" spc="-1" strike="noStrike">
              <a:solidFill>
                <a:schemeClr val="dk1"/>
              </a:solidFill>
              <a:latin typeface="Calibri"/>
            </a:endParaRPr>
          </a:p>
        </p:txBody>
      </p:sp>
      <p:sp>
        <p:nvSpPr>
          <p:cNvPr id="153"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Bowen, Davies, Perry independently observed loss of choline acetyltransferase in post-mortem AD brain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Source: degenerating cholinergic projections from the </a:t>
            </a:r>
            <a:r>
              <a:rPr b="1" lang="en-US" sz="2400" spc="-1" strike="noStrike">
                <a:solidFill>
                  <a:schemeClr val="dk1"/>
                </a:solidFill>
                <a:latin typeface="Calibri"/>
              </a:rPr>
              <a:t>nucleus basalis of Meynert</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Implication: boost acetylcholine, improve cognition</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AChE inhibitor mechanism</a:t>
            </a:r>
            <a:endParaRPr b="0" lang="en-US" sz="3300" spc="-1" strike="noStrike">
              <a:solidFill>
                <a:schemeClr val="dk1"/>
              </a:solidFill>
              <a:latin typeface="Calibri"/>
            </a:endParaRPr>
          </a:p>
        </p:txBody>
      </p:sp>
      <p:sp>
        <p:nvSpPr>
          <p:cNvPr id="155" name="PlaceHolder 2"/>
          <p:cNvSpPr>
            <a:spLocks noGrp="1"/>
          </p:cNvSpPr>
          <p:nvPr>
            <p:ph/>
          </p:nvPr>
        </p:nvSpPr>
        <p:spPr>
          <a:xfrm>
            <a:off x="457200" y="1200240"/>
            <a:ext cx="4038120" cy="3394080"/>
          </a:xfrm>
          <a:prstGeom prst="rect">
            <a:avLst/>
          </a:prstGeom>
          <a:noFill/>
          <a:ln w="0">
            <a:noFill/>
          </a:ln>
        </p:spPr>
        <p:txBody>
          <a:bodyPr lIns="91440" rIns="91440" tIns="45720" bIns="45720" anchor="t">
            <a:normAutofit/>
          </a:bodyPr>
          <a:p>
            <a:pPr indent="0" defTabSz="343080">
              <a:lnSpc>
                <a:spcPct val="100000"/>
              </a:lnSpc>
              <a:spcBef>
                <a:spcPts val="420"/>
              </a:spcBef>
              <a:buNone/>
              <a:tabLst>
                <a:tab algn="l" pos="0"/>
              </a:tabLst>
            </a:pPr>
            <a:r>
              <a:rPr b="1" lang="en-US" sz="2100" spc="-1" strike="noStrike">
                <a:solidFill>
                  <a:schemeClr val="dk1"/>
                </a:solidFill>
                <a:latin typeface="Calibri"/>
              </a:rPr>
              <a:t>Cholinergic synapse cartoon</a:t>
            </a:r>
            <a:endParaRPr b="0" lang="en-US" sz="2100" spc="-1" strike="noStrike">
              <a:solidFill>
                <a:schemeClr val="dk1"/>
              </a:solidFill>
              <a:latin typeface="Calibri"/>
            </a:endParaRPr>
          </a:p>
          <a:p>
            <a:pPr indent="0" defTabSz="343080">
              <a:lnSpc>
                <a:spcPct val="100000"/>
              </a:lnSpc>
              <a:spcBef>
                <a:spcPts val="420"/>
              </a:spcBef>
              <a:buNone/>
              <a:tabLst>
                <a:tab algn="l" pos="0"/>
              </a:tabLst>
            </a:pPr>
            <a:r>
              <a:rPr b="0" lang="en-US" sz="2100" spc="-1" strike="noStrike">
                <a:solidFill>
                  <a:schemeClr val="dk1"/>
                </a:solidFill>
                <a:latin typeface="Calibri"/>
              </a:rPr>
              <a:t>Presynaptic ACh release → AChE breaking ACh in cleft → AChEi blocking AChE → more ACh available at post-synaptic receptors.</a:t>
            </a:r>
            <a:endParaRPr b="0" lang="en-US" sz="2100" spc="-1" strike="noStrike">
              <a:solidFill>
                <a:schemeClr val="dk1"/>
              </a:solidFill>
              <a:latin typeface="Calibri"/>
            </a:endParaRPr>
          </a:p>
        </p:txBody>
      </p:sp>
      <p:sp>
        <p:nvSpPr>
          <p:cNvPr id="156" name="PlaceHolder 3"/>
          <p:cNvSpPr>
            <a:spLocks noGrp="1"/>
          </p:cNvSpPr>
          <p:nvPr>
            <p:ph/>
          </p:nvPr>
        </p:nvSpPr>
        <p:spPr>
          <a:xfrm>
            <a:off x="4648320" y="1200240"/>
            <a:ext cx="4038120" cy="3394080"/>
          </a:xfrm>
          <a:prstGeom prst="rect">
            <a:avLst/>
          </a:prstGeom>
          <a:noFill/>
          <a:ln w="0">
            <a:noFill/>
          </a:ln>
        </p:spPr>
        <p:txBody>
          <a:bodyPr lIns="91440" rIns="91440" tIns="45720" bIns="45720" anchor="t">
            <a:normAutofit fontScale="89979"/>
          </a:bodyPr>
          <a:p>
            <a:pPr indent="0" defTabSz="343080">
              <a:lnSpc>
                <a:spcPct val="100000"/>
              </a:lnSpc>
              <a:spcBef>
                <a:spcPts val="420"/>
              </a:spcBef>
              <a:buNone/>
              <a:tabLst>
                <a:tab algn="l" pos="0"/>
              </a:tabLst>
            </a:pPr>
            <a:r>
              <a:rPr b="1" lang="en-US" sz="2100" spc="-1" strike="noStrike">
                <a:solidFill>
                  <a:schemeClr val="dk1"/>
                </a:solidFill>
                <a:latin typeface="Calibri"/>
              </a:rPr>
              <a:t>Clinical implications</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AD brains have loss of cortical and hippocampal ACh</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AChEi inhibit synaptic breakdown, increasing transmitter availability</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Effect is presynaptic compensation; does not modify disease</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Side-effects from cholinergic excess: ↑ vagal tone, GI cramping, bradycardia, vivid dreams</a:t>
            </a:r>
            <a:endParaRPr b="0" lang="en-US" sz="2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AChE inhibitors: clinical use</a:t>
            </a:r>
            <a:endParaRPr b="0" lang="en-US" sz="3300" spc="-1" strike="noStrike">
              <a:solidFill>
                <a:schemeClr val="dk1"/>
              </a:solidFill>
              <a:latin typeface="Calibri"/>
            </a:endParaRPr>
          </a:p>
        </p:txBody>
      </p:sp>
      <p:sp>
        <p:nvSpPr>
          <p:cNvPr id="158"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The three approved AChE inhibitors are presented one per slide.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AChEi: Donepezil</a:t>
            </a:r>
            <a:endParaRPr b="0" lang="en-US" sz="3300" spc="-1" strike="noStrike">
              <a:solidFill>
                <a:schemeClr val="dk1"/>
              </a:solidFill>
              <a:latin typeface="Calibri"/>
            </a:endParaRPr>
          </a:p>
        </p:txBody>
      </p:sp>
      <p:sp>
        <p:nvSpPr>
          <p:cNvPr id="160"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Once daily, oral; 5 mg → 10 mg after 4 weeks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Most common UK first-line agent</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Long half-life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Side effects: GI upset, vivid dreams, bradycardia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Cardiac history → ECG before starting</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AChEi: Rivastigmine</a:t>
            </a:r>
            <a:endParaRPr b="0" lang="en-US" sz="3300" spc="-1" strike="noStrike">
              <a:solidFill>
                <a:schemeClr val="dk1"/>
              </a:solidFill>
              <a:latin typeface="Calibri"/>
            </a:endParaRPr>
          </a:p>
        </p:txBody>
      </p:sp>
      <p:sp>
        <p:nvSpPr>
          <p:cNvPr id="162"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BD oral or </a:t>
            </a:r>
            <a:r>
              <a:rPr b="1" lang="en-US" sz="2400" spc="-1" strike="noStrike">
                <a:solidFill>
                  <a:schemeClr val="dk1"/>
                </a:solidFill>
                <a:latin typeface="Calibri"/>
              </a:rPr>
              <a:t>transdermal patch</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Patch useful when swallowing or compliance issues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Inhibits both AChE and butyrylcholinesterase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Patch reduces GI side-effects substantially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Drug of choice in DLB and PDD</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AChEi: Galantamine</a:t>
            </a:r>
            <a:endParaRPr b="0" lang="en-US" sz="3300" spc="-1" strike="noStrike">
              <a:solidFill>
                <a:schemeClr val="dk1"/>
              </a:solidFill>
              <a:latin typeface="Calibri"/>
            </a:endParaRPr>
          </a:p>
        </p:txBody>
      </p:sp>
      <p:sp>
        <p:nvSpPr>
          <p:cNvPr id="164"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BD oral; also a </a:t>
            </a:r>
            <a:r>
              <a:rPr b="1" lang="en-US" sz="2400" spc="-1" strike="noStrike">
                <a:solidFill>
                  <a:schemeClr val="dk1"/>
                </a:solidFill>
                <a:latin typeface="Calibri"/>
              </a:rPr>
              <a:t>nicotinic allosteric modulator</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Cardiac caution (rare reports of bradyarrhythmia)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Less commonly used in UK</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Memantine: NMDA receptor antagonism</a:t>
            </a:r>
            <a:endParaRPr b="0" lang="en-US" sz="3300" spc="-1" strike="noStrike">
              <a:solidFill>
                <a:schemeClr val="dk1"/>
              </a:solidFill>
              <a:latin typeface="Calibri"/>
            </a:endParaRPr>
          </a:p>
        </p:txBody>
      </p:sp>
      <p:sp>
        <p:nvSpPr>
          <p:cNvPr id="166" name="PlaceHolder 2"/>
          <p:cNvSpPr>
            <a:spLocks noGrp="1"/>
          </p:cNvSpPr>
          <p:nvPr>
            <p:ph/>
          </p:nvPr>
        </p:nvSpPr>
        <p:spPr>
          <a:xfrm>
            <a:off x="457200" y="1200240"/>
            <a:ext cx="4038120" cy="3394080"/>
          </a:xfrm>
          <a:prstGeom prst="rect">
            <a:avLst/>
          </a:prstGeom>
          <a:noFill/>
          <a:ln w="0">
            <a:noFill/>
          </a:ln>
        </p:spPr>
        <p:txBody>
          <a:bodyPr lIns="91440" rIns="91440" tIns="45720" bIns="45720" anchor="t">
            <a:normAutofit/>
          </a:bodyPr>
          <a:p>
            <a:pPr indent="0" defTabSz="343080">
              <a:lnSpc>
                <a:spcPct val="100000"/>
              </a:lnSpc>
              <a:spcBef>
                <a:spcPts val="420"/>
              </a:spcBef>
              <a:buNone/>
              <a:tabLst>
                <a:tab algn="l" pos="0"/>
              </a:tabLst>
            </a:pPr>
            <a:r>
              <a:rPr b="1" lang="en-US" sz="2100" spc="-1" strike="noStrike">
                <a:solidFill>
                  <a:schemeClr val="dk1"/>
                </a:solidFill>
                <a:latin typeface="Calibri"/>
              </a:rPr>
              <a:t>Mechanism</a:t>
            </a:r>
            <a:endParaRPr b="0" lang="en-US" sz="2100" spc="-1" strike="noStrike">
              <a:solidFill>
                <a:schemeClr val="dk1"/>
              </a:solidFill>
              <a:latin typeface="Calibri"/>
            </a:endParaRPr>
          </a:p>
          <a:p>
            <a:pPr indent="0" defTabSz="343080">
              <a:lnSpc>
                <a:spcPct val="100000"/>
              </a:lnSpc>
              <a:spcBef>
                <a:spcPts val="420"/>
              </a:spcBef>
              <a:buNone/>
              <a:tabLst>
                <a:tab algn="l" pos="0"/>
              </a:tabLst>
            </a:pPr>
            <a:r>
              <a:rPr b="0" lang="en-US" sz="2100" spc="-1" strike="noStrike">
                <a:solidFill>
                  <a:schemeClr val="dk1"/>
                </a:solidFill>
                <a:latin typeface="Calibri"/>
              </a:rPr>
              <a:t>Glutamatergic synapse → NMDA receptor channel → excess glutamate driving pathological tonic activation → memantine sits in the channel as an uncompetitive, low-affinity antagonist.</a:t>
            </a:r>
            <a:endParaRPr b="0" lang="en-US" sz="2100" spc="-1" strike="noStrike">
              <a:solidFill>
                <a:schemeClr val="dk1"/>
              </a:solidFill>
              <a:latin typeface="Calibri"/>
            </a:endParaRPr>
          </a:p>
        </p:txBody>
      </p:sp>
      <p:sp>
        <p:nvSpPr>
          <p:cNvPr id="167" name="PlaceHolder 3"/>
          <p:cNvSpPr>
            <a:spLocks noGrp="1"/>
          </p:cNvSpPr>
          <p:nvPr>
            <p:ph/>
          </p:nvPr>
        </p:nvSpPr>
        <p:spPr>
          <a:xfrm>
            <a:off x="4648320" y="1200240"/>
            <a:ext cx="4038120" cy="3394080"/>
          </a:xfrm>
          <a:prstGeom prst="rect">
            <a:avLst/>
          </a:prstGeom>
          <a:noFill/>
          <a:ln w="0">
            <a:noFill/>
          </a:ln>
        </p:spPr>
        <p:txBody>
          <a:bodyPr lIns="91440" rIns="91440" tIns="45720" bIns="45720" anchor="t">
            <a:normAutofit fontScale="98073" lnSpcReduction="10000"/>
          </a:bodyPr>
          <a:p>
            <a:pPr indent="0" defTabSz="343080">
              <a:lnSpc>
                <a:spcPct val="100000"/>
              </a:lnSpc>
              <a:spcBef>
                <a:spcPts val="420"/>
              </a:spcBef>
              <a:buNone/>
              <a:tabLst>
                <a:tab algn="l" pos="0"/>
              </a:tabLst>
            </a:pPr>
            <a:r>
              <a:rPr b="1" lang="en-US" sz="2100" spc="-1" strike="noStrike">
                <a:solidFill>
                  <a:schemeClr val="dk1"/>
                </a:solidFill>
                <a:latin typeface="Calibri"/>
              </a:rPr>
              <a:t>Clinical use</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Memantine sits in the channel only when pathologically open (voltage-dependent)</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Strong physiological NMDA bursts displace it, preserving learning</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1" lang="en-US" sz="2100" spc="-1" strike="noStrike">
                <a:solidFill>
                  <a:schemeClr val="dk1"/>
                </a:solidFill>
                <a:latin typeface="Calibri"/>
              </a:rPr>
              <a:t>Indication</a:t>
            </a:r>
            <a:r>
              <a:rPr b="0" lang="en-US" sz="2100" spc="-1" strike="noStrike">
                <a:solidFill>
                  <a:schemeClr val="dk1"/>
                </a:solidFill>
                <a:latin typeface="Calibri"/>
              </a:rPr>
              <a:t>: moderate to severe AD, or AChEi-intolerant</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0" lang="en-US" sz="2100" spc="-1" strike="noStrike">
                <a:solidFill>
                  <a:schemeClr val="dk1"/>
                </a:solidFill>
                <a:latin typeface="Calibri"/>
              </a:rPr>
              <a:t>Often combined with donepezil</a:t>
            </a:r>
            <a:endParaRPr b="0" lang="en-US" sz="2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buNone/>
            </a:pPr>
            <a:endParaRPr b="0" lang="en-US" sz="3300" spc="-1" strike="noStrike">
              <a:solidFill>
                <a:schemeClr val="dk1"/>
              </a:solidFill>
              <a:latin typeface="Calibri"/>
            </a:endParaRPr>
          </a:p>
        </p:txBody>
      </p:sp>
      <p:pic>
        <p:nvPicPr>
          <p:cNvPr id="169" name="Picture 1" descr="Pictures_pptx/mmse_trajectory.png"/>
          <p:cNvPicPr/>
          <p:nvPr/>
        </p:nvPicPr>
        <p:blipFill>
          <a:blip r:embed="rId1"/>
          <a:stretch/>
        </p:blipFill>
        <p:spPr>
          <a:xfrm>
            <a:off x="1604160" y="180000"/>
            <a:ext cx="6315840" cy="4050000"/>
          </a:xfrm>
          <a:prstGeom prst="rect">
            <a:avLst/>
          </a:prstGeom>
          <a:ln w="9525">
            <a:noFill/>
          </a:ln>
        </p:spPr>
      </p:pic>
      <p:sp>
        <p:nvSpPr>
          <p:cNvPr id="170" name="TextBox 3"/>
          <p:cNvSpPr/>
          <p:nvPr/>
        </p:nvSpPr>
        <p:spPr>
          <a:xfrm>
            <a:off x="360000" y="4320000"/>
            <a:ext cx="8229240" cy="507600"/>
          </a:xfrm>
          <a:prstGeom prst="rect">
            <a:avLst/>
          </a:prstGeom>
          <a:noFill/>
          <a:ln w="0">
            <a:noFill/>
          </a:ln>
        </p:spPr>
        <p:style>
          <a:lnRef idx="0"/>
          <a:fillRef idx="0"/>
          <a:effectRef idx="0"/>
          <a:fontRef idx="minor"/>
        </p:style>
        <p:txBody>
          <a:bodyPr lIns="90000" rIns="90000" tIns="45000" bIns="45000" anchor="t">
            <a:normAutofit fontScale="75000"/>
          </a:bodyPr>
          <a:p>
            <a:pPr algn="ctr" defTabSz="457200">
              <a:lnSpc>
                <a:spcPct val="100000"/>
              </a:lnSpc>
              <a:tabLst>
                <a:tab algn="l" pos="0"/>
              </a:tabLst>
            </a:pPr>
            <a:r>
              <a:rPr b="0" lang="en-US" sz="1800" spc="-1" strike="noStrike">
                <a:solidFill>
                  <a:schemeClr val="dk1"/>
                </a:solidFill>
                <a:latin typeface="Calibri"/>
              </a:rPr>
              <a:t>MMSE trajectory over 3 years: untreated AD declines about 2.5 points per year. AChEi shifts the curve up by ~1 point but the trajectory is unchanged. The DLB response to AChEi is much larger.</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Differential responsiveness across subtypes</a:t>
            </a:r>
            <a:endParaRPr b="0" lang="en-US" sz="3300" spc="-1" strike="noStrike">
              <a:solidFill>
                <a:schemeClr val="dk1"/>
              </a:solidFill>
              <a:latin typeface="Calibri"/>
            </a:endParaRPr>
          </a:p>
        </p:txBody>
      </p:sp>
      <p:sp>
        <p:nvSpPr>
          <p:cNvPr id="172" name="PlaceHolder 2"/>
          <p:cNvSpPr>
            <a:spLocks noGrp="1"/>
          </p:cNvSpPr>
          <p:nvPr>
            <p:ph/>
          </p:nvPr>
        </p:nvSpPr>
        <p:spPr>
          <a:xfrm>
            <a:off x="457200" y="1200240"/>
            <a:ext cx="4038120" cy="3394080"/>
          </a:xfrm>
          <a:prstGeom prst="rect">
            <a:avLst/>
          </a:prstGeom>
          <a:noFill/>
          <a:ln w="0">
            <a:noFill/>
          </a:ln>
        </p:spPr>
        <p:txBody>
          <a:bodyPr lIns="91440" rIns="91440" tIns="45720" bIns="45720" anchor="t">
            <a:normAutofit/>
          </a:bodyPr>
          <a:p>
            <a:pPr indent="0" defTabSz="343080">
              <a:lnSpc>
                <a:spcPct val="100000"/>
              </a:lnSpc>
              <a:spcBef>
                <a:spcPts val="420"/>
              </a:spcBef>
              <a:buNone/>
              <a:tabLst>
                <a:tab algn="l" pos="0"/>
              </a:tabLst>
            </a:pPr>
            <a:r>
              <a:rPr b="1" lang="en-US" sz="2100" spc="-1" strike="noStrike">
                <a:solidFill>
                  <a:schemeClr val="dk1"/>
                </a:solidFill>
                <a:latin typeface="Calibri"/>
              </a:rPr>
              <a:t>Helpful in</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1" lang="en-US" sz="2100" spc="-1" strike="noStrike">
                <a:solidFill>
                  <a:schemeClr val="dk1"/>
                </a:solidFill>
                <a:latin typeface="Calibri"/>
              </a:rPr>
              <a:t>AD</a:t>
            </a:r>
            <a:r>
              <a:rPr b="0" lang="en-US" sz="2100" spc="-1" strike="noStrike">
                <a:solidFill>
                  <a:schemeClr val="dk1"/>
                </a:solidFill>
                <a:latin typeface="Calibri"/>
              </a:rPr>
              <a:t> (modest, all severities)</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1" lang="en-US" sz="2100" spc="-1" strike="noStrike">
                <a:solidFill>
                  <a:schemeClr val="dk1"/>
                </a:solidFill>
                <a:latin typeface="Calibri"/>
              </a:rPr>
              <a:t>DLB</a:t>
            </a:r>
            <a:r>
              <a:rPr b="0" lang="en-US" sz="2100" spc="-1" strike="noStrike">
                <a:solidFill>
                  <a:schemeClr val="dk1"/>
                </a:solidFill>
                <a:latin typeface="Calibri"/>
              </a:rPr>
              <a:t> (often substantial; rivastigmine first choice)</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1" lang="en-US" sz="2100" spc="-1" strike="noStrike">
                <a:solidFill>
                  <a:schemeClr val="dk1"/>
                </a:solidFill>
                <a:latin typeface="Calibri"/>
              </a:rPr>
              <a:t>PDD</a:t>
            </a:r>
            <a:r>
              <a:rPr b="0" lang="en-US" sz="2100" spc="-1" strike="noStrike">
                <a:solidFill>
                  <a:schemeClr val="dk1"/>
                </a:solidFill>
                <a:latin typeface="Calibri"/>
              </a:rPr>
              <a:t> (cholinergic deficit prominent)</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1" lang="en-US" sz="2100" spc="-1" strike="noStrike">
                <a:solidFill>
                  <a:schemeClr val="dk1"/>
                </a:solidFill>
                <a:latin typeface="Calibri"/>
              </a:rPr>
              <a:t>VaD</a:t>
            </a:r>
            <a:r>
              <a:rPr b="0" lang="en-US" sz="2100" spc="-1" strike="noStrike">
                <a:solidFill>
                  <a:schemeClr val="dk1"/>
                </a:solidFill>
                <a:latin typeface="Calibri"/>
              </a:rPr>
              <a:t> (mixed disease often benefits)</a:t>
            </a:r>
            <a:endParaRPr b="0" lang="en-US" sz="2100" spc="-1" strike="noStrike">
              <a:solidFill>
                <a:schemeClr val="dk1"/>
              </a:solidFill>
              <a:latin typeface="Calibri"/>
            </a:endParaRPr>
          </a:p>
        </p:txBody>
      </p:sp>
      <p:sp>
        <p:nvSpPr>
          <p:cNvPr id="173" name="PlaceHolder 3"/>
          <p:cNvSpPr>
            <a:spLocks noGrp="1"/>
          </p:cNvSpPr>
          <p:nvPr>
            <p:ph/>
          </p:nvPr>
        </p:nvSpPr>
        <p:spPr>
          <a:xfrm>
            <a:off x="4648320" y="1200240"/>
            <a:ext cx="4038120" cy="3394080"/>
          </a:xfrm>
          <a:prstGeom prst="rect">
            <a:avLst/>
          </a:prstGeom>
          <a:noFill/>
          <a:ln w="0">
            <a:noFill/>
          </a:ln>
        </p:spPr>
        <p:txBody>
          <a:bodyPr lIns="91440" rIns="91440" tIns="45720" bIns="45720" anchor="t">
            <a:normAutofit/>
          </a:bodyPr>
          <a:p>
            <a:pPr indent="0" defTabSz="343080">
              <a:lnSpc>
                <a:spcPct val="100000"/>
              </a:lnSpc>
              <a:spcBef>
                <a:spcPts val="420"/>
              </a:spcBef>
              <a:buNone/>
              <a:tabLst>
                <a:tab algn="l" pos="0"/>
              </a:tabLst>
            </a:pPr>
            <a:r>
              <a:rPr b="1" lang="en-US" sz="2100" spc="-1" strike="noStrike">
                <a:solidFill>
                  <a:schemeClr val="dk1"/>
                </a:solidFill>
                <a:latin typeface="Calibri"/>
              </a:rPr>
              <a:t>Limited or harmful in</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1" lang="en-US" sz="2100" spc="-1" strike="noStrike">
                <a:solidFill>
                  <a:schemeClr val="dk1"/>
                </a:solidFill>
                <a:latin typeface="Calibri"/>
              </a:rPr>
              <a:t>bvFTD</a:t>
            </a:r>
            <a:r>
              <a:rPr b="0" lang="en-US" sz="2100" spc="-1" strike="noStrike">
                <a:solidFill>
                  <a:schemeClr val="dk1"/>
                </a:solidFill>
                <a:latin typeface="Calibri"/>
              </a:rPr>
              <a:t> (no benefit, may worsen agitation)</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1" lang="en-US" sz="2100" spc="-1" strike="noStrike">
                <a:solidFill>
                  <a:schemeClr val="dk1"/>
                </a:solidFill>
                <a:latin typeface="Calibri"/>
              </a:rPr>
              <a:t>Pure VaD</a:t>
            </a:r>
            <a:r>
              <a:rPr b="0" lang="en-US" sz="2100" spc="-1" strike="noStrike">
                <a:solidFill>
                  <a:schemeClr val="dk1"/>
                </a:solidFill>
                <a:latin typeface="Calibri"/>
              </a:rPr>
              <a:t> (inconsistent)</a:t>
            </a:r>
            <a:endParaRPr b="0" lang="en-US" sz="2100" spc="-1" strike="noStrike">
              <a:solidFill>
                <a:schemeClr val="dk1"/>
              </a:solidFill>
              <a:latin typeface="Calibri"/>
            </a:endParaRPr>
          </a:p>
          <a:p>
            <a:pPr marL="343080" indent="-343080" defTabSz="343080">
              <a:lnSpc>
                <a:spcPct val="100000"/>
              </a:lnSpc>
              <a:spcBef>
                <a:spcPts val="420"/>
              </a:spcBef>
              <a:buClr>
                <a:srgbClr val="000000"/>
              </a:buClr>
              <a:buFont typeface="Arial"/>
              <a:buChar char="•"/>
              <a:tabLst>
                <a:tab algn="l" pos="0"/>
              </a:tabLst>
            </a:pPr>
            <a:r>
              <a:rPr b="1" lang="en-US" sz="2100" spc="-1" strike="noStrike">
                <a:solidFill>
                  <a:schemeClr val="dk1"/>
                </a:solidFill>
                <a:latin typeface="Calibri"/>
              </a:rPr>
              <a:t>Severe AD</a:t>
            </a:r>
            <a:r>
              <a:rPr b="0" lang="en-US" sz="2100" spc="-1" strike="noStrike">
                <a:solidFill>
                  <a:schemeClr val="dk1"/>
                </a:solidFill>
                <a:latin typeface="Calibri"/>
              </a:rPr>
              <a:t> (memantine takes over)</a:t>
            </a:r>
            <a:endParaRPr b="0" lang="en-US" sz="2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BPSD</a:t>
            </a:r>
            <a:endParaRPr b="0" lang="en-US" sz="3300" spc="-1" strike="noStrike">
              <a:solidFill>
                <a:schemeClr val="dk1"/>
              </a:solidFill>
              <a:latin typeface="Calibri"/>
            </a:endParaRPr>
          </a:p>
        </p:txBody>
      </p:sp>
      <p:sp>
        <p:nvSpPr>
          <p:cNvPr id="175"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3713" lnSpcReduction="10000"/>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B</a:t>
            </a:r>
            <a:r>
              <a:rPr b="0" lang="en-US" sz="2400" spc="-1" strike="noStrike">
                <a:solidFill>
                  <a:schemeClr val="dk1"/>
                </a:solidFill>
                <a:latin typeface="Calibri"/>
              </a:rPr>
              <a:t>ehavioural and </a:t>
            </a:r>
            <a:r>
              <a:rPr b="1" lang="en-US" sz="2400" spc="-1" strike="noStrike">
                <a:solidFill>
                  <a:schemeClr val="dk1"/>
                </a:solidFill>
                <a:latin typeface="Calibri"/>
              </a:rPr>
              <a:t>P</a:t>
            </a:r>
            <a:r>
              <a:rPr b="0" lang="en-US" sz="2400" spc="-1" strike="noStrike">
                <a:solidFill>
                  <a:schemeClr val="dk1"/>
                </a:solidFill>
                <a:latin typeface="Calibri"/>
              </a:rPr>
              <a:t>sychological </a:t>
            </a:r>
            <a:r>
              <a:rPr b="1" lang="en-US" sz="2400" spc="-1" strike="noStrike">
                <a:solidFill>
                  <a:schemeClr val="dk1"/>
                </a:solidFill>
                <a:latin typeface="Calibri"/>
              </a:rPr>
              <a:t>S</a:t>
            </a:r>
            <a:r>
              <a:rPr b="0" lang="en-US" sz="2400" spc="-1" strike="noStrike">
                <a:solidFill>
                  <a:schemeClr val="dk1"/>
                </a:solidFill>
                <a:latin typeface="Calibri"/>
              </a:rPr>
              <a:t>ymptoms of </a:t>
            </a:r>
            <a:r>
              <a:rPr b="1" lang="en-US" sz="2400" spc="-1" strike="noStrike">
                <a:solidFill>
                  <a:schemeClr val="dk1"/>
                </a:solidFill>
                <a:latin typeface="Calibri"/>
              </a:rPr>
              <a:t>D</a:t>
            </a:r>
            <a:r>
              <a:rPr b="0" lang="en-US" sz="2400" spc="-1" strike="noStrike">
                <a:solidFill>
                  <a:schemeClr val="dk1"/>
                </a:solidFill>
                <a:latin typeface="Calibri"/>
              </a:rPr>
              <a:t>ementia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Up to 90% of patients experience at least one over the course of illness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Drives caregiver burden, institutionalisation, and mortality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Five clusters:</a:t>
            </a:r>
            <a:endParaRPr b="0" lang="en-US" sz="2400" spc="-1" strike="noStrike">
              <a:solidFill>
                <a:schemeClr val="dk1"/>
              </a:solidFill>
              <a:latin typeface="Calibri"/>
            </a:endParaRPr>
          </a:p>
          <a:p>
            <a:pPr lvl="1" marL="685800" indent="-343080" defTabSz="343080">
              <a:lnSpc>
                <a:spcPct val="100000"/>
              </a:lnSpc>
              <a:spcBef>
                <a:spcPts val="420"/>
              </a:spcBef>
              <a:buClr>
                <a:srgbClr val="000000"/>
              </a:buClr>
              <a:buFont typeface="Arial"/>
              <a:buAutoNum type="arabicPeriod"/>
            </a:pPr>
            <a:r>
              <a:rPr b="0" lang="en-US" sz="2100" spc="-1" strike="noStrike">
                <a:solidFill>
                  <a:schemeClr val="dk1"/>
                </a:solidFill>
                <a:latin typeface="Calibri"/>
              </a:rPr>
              <a:t>Agitation / aggression</a:t>
            </a:r>
            <a:endParaRPr b="0" lang="en-US" sz="2100" spc="-1" strike="noStrike">
              <a:solidFill>
                <a:schemeClr val="dk1"/>
              </a:solidFill>
              <a:latin typeface="Calibri"/>
            </a:endParaRPr>
          </a:p>
          <a:p>
            <a:pPr lvl="1" marL="685800" indent="-343080" defTabSz="343080">
              <a:lnSpc>
                <a:spcPct val="100000"/>
              </a:lnSpc>
              <a:spcBef>
                <a:spcPts val="420"/>
              </a:spcBef>
              <a:buClr>
                <a:srgbClr val="000000"/>
              </a:buClr>
              <a:buFont typeface="Arial"/>
              <a:buAutoNum type="arabicPeriod"/>
            </a:pPr>
            <a:r>
              <a:rPr b="0" lang="en-US" sz="2100" spc="-1" strike="noStrike">
                <a:solidFill>
                  <a:schemeClr val="dk1"/>
                </a:solidFill>
                <a:latin typeface="Calibri"/>
              </a:rPr>
              <a:t>Psychosis (delusions, hallucinations)</a:t>
            </a:r>
            <a:endParaRPr b="0" lang="en-US" sz="2100" spc="-1" strike="noStrike">
              <a:solidFill>
                <a:schemeClr val="dk1"/>
              </a:solidFill>
              <a:latin typeface="Calibri"/>
            </a:endParaRPr>
          </a:p>
          <a:p>
            <a:pPr lvl="1" marL="685800" indent="-343080" defTabSz="343080">
              <a:lnSpc>
                <a:spcPct val="100000"/>
              </a:lnSpc>
              <a:spcBef>
                <a:spcPts val="420"/>
              </a:spcBef>
              <a:buClr>
                <a:srgbClr val="000000"/>
              </a:buClr>
              <a:buFont typeface="Arial"/>
              <a:buAutoNum type="arabicPeriod"/>
            </a:pPr>
            <a:r>
              <a:rPr b="0" lang="en-US" sz="2100" spc="-1" strike="noStrike">
                <a:solidFill>
                  <a:schemeClr val="dk1"/>
                </a:solidFill>
                <a:latin typeface="Calibri"/>
              </a:rPr>
              <a:t>Depression / anxiety</a:t>
            </a:r>
            <a:endParaRPr b="0" lang="en-US" sz="2100" spc="-1" strike="noStrike">
              <a:solidFill>
                <a:schemeClr val="dk1"/>
              </a:solidFill>
              <a:latin typeface="Calibri"/>
            </a:endParaRPr>
          </a:p>
          <a:p>
            <a:pPr lvl="1" marL="685800" indent="-343080" defTabSz="343080">
              <a:lnSpc>
                <a:spcPct val="100000"/>
              </a:lnSpc>
              <a:spcBef>
                <a:spcPts val="420"/>
              </a:spcBef>
              <a:buClr>
                <a:srgbClr val="000000"/>
              </a:buClr>
              <a:buFont typeface="Arial"/>
              <a:buAutoNum type="arabicPeriod"/>
            </a:pPr>
            <a:r>
              <a:rPr b="0" lang="en-US" sz="2100" spc="-1" strike="noStrike">
                <a:solidFill>
                  <a:schemeClr val="dk1"/>
                </a:solidFill>
                <a:latin typeface="Calibri"/>
              </a:rPr>
              <a:t>Apathy</a:t>
            </a:r>
            <a:endParaRPr b="0" lang="en-US" sz="2100" spc="-1" strike="noStrike">
              <a:solidFill>
                <a:schemeClr val="dk1"/>
              </a:solidFill>
              <a:latin typeface="Calibri"/>
            </a:endParaRPr>
          </a:p>
          <a:p>
            <a:pPr lvl="1" marL="685800" indent="-343080" defTabSz="343080">
              <a:lnSpc>
                <a:spcPct val="100000"/>
              </a:lnSpc>
              <a:spcBef>
                <a:spcPts val="420"/>
              </a:spcBef>
              <a:buClr>
                <a:srgbClr val="000000"/>
              </a:buClr>
              <a:buFont typeface="Arial"/>
              <a:buAutoNum type="arabicPeriod"/>
            </a:pPr>
            <a:r>
              <a:rPr b="0" lang="en-US" sz="2100" spc="-1" strike="noStrike">
                <a:solidFill>
                  <a:schemeClr val="dk1"/>
                </a:solidFill>
                <a:latin typeface="Calibri"/>
              </a:rPr>
              <a:t>Sleep disturbance</a:t>
            </a:r>
            <a:endParaRPr b="0" lang="en-US" sz="2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Non-pharmacological management of BPSD</a:t>
            </a:r>
            <a:endParaRPr b="0" lang="en-US" sz="3300" spc="-1" strike="noStrike">
              <a:solidFill>
                <a:schemeClr val="dk1"/>
              </a:solidFill>
              <a:latin typeface="Calibri"/>
            </a:endParaRPr>
          </a:p>
        </p:txBody>
      </p:sp>
      <p:sp>
        <p:nvSpPr>
          <p:cNvPr id="177"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6628" lnSpcReduction="10000"/>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Always rule out a precipitant</a:t>
            </a:r>
            <a:r>
              <a:rPr b="0" lang="en-US" sz="2400" spc="-1" strike="noStrike">
                <a:solidFill>
                  <a:schemeClr val="dk1"/>
                </a:solidFill>
                <a:latin typeface="Calibri"/>
              </a:rPr>
              <a:t>: pain, infection (UTI, chest), constipation, drug effect, sensory deprivation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Cognitive Stimulation Therapy</a:t>
            </a:r>
            <a:r>
              <a:rPr b="0" lang="en-US" sz="2400" spc="-1" strike="noStrike">
                <a:solidFill>
                  <a:schemeClr val="dk1"/>
                </a:solidFill>
                <a:latin typeface="Calibri"/>
              </a:rPr>
              <a:t> (NICE-recommended, group-based)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Exercise</a:t>
            </a:r>
            <a:r>
              <a:rPr b="0" lang="en-US" sz="2400" spc="-1" strike="noStrike">
                <a:solidFill>
                  <a:schemeClr val="dk1"/>
                </a:solidFill>
                <a:latin typeface="Calibri"/>
              </a:rPr>
              <a:t> (aerobic and resistance)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Music therapy</a:t>
            </a:r>
            <a:r>
              <a:rPr b="0" lang="en-US" sz="2400" spc="-1" strike="noStrike">
                <a:solidFill>
                  <a:schemeClr val="dk1"/>
                </a:solidFill>
                <a:latin typeface="Calibri"/>
              </a:rPr>
              <a:t>: strong evidence in agitation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Environmental modification</a:t>
            </a:r>
            <a:r>
              <a:rPr b="0" lang="en-US" sz="2400" spc="-1" strike="noStrike">
                <a:solidFill>
                  <a:schemeClr val="dk1"/>
                </a:solidFill>
                <a:latin typeface="Calibri"/>
              </a:rPr>
              <a:t>: light, routine, signage, familiar objects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Caregiver education and support</a:t>
            </a:r>
            <a:r>
              <a:rPr b="0" lang="en-US" sz="2400" spc="-1" strike="noStrike">
                <a:solidFill>
                  <a:schemeClr val="dk1"/>
                </a:solidFill>
                <a:latin typeface="Calibri"/>
              </a:rPr>
              <a:t>: often high-yield</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Pharmacological management of BPSD</a:t>
            </a:r>
            <a:endParaRPr b="0" lang="en-US" sz="3300" spc="-1" strike="noStrike">
              <a:solidFill>
                <a:schemeClr val="dk1"/>
              </a:solidFill>
              <a:latin typeface="Calibri"/>
            </a:endParaRPr>
          </a:p>
        </p:txBody>
      </p:sp>
      <p:sp>
        <p:nvSpPr>
          <p:cNvPr id="179"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87465" lnSpcReduction="10000"/>
          </a:bodyPr>
          <a:p>
            <a:pPr marL="1270080" indent="0" defTabSz="343080">
              <a:lnSpc>
                <a:spcPct val="100000"/>
              </a:lnSpc>
              <a:spcBef>
                <a:spcPts val="400"/>
              </a:spcBef>
              <a:buNone/>
              <a:tabLst>
                <a:tab algn="l" pos="0"/>
              </a:tabLst>
            </a:pPr>
            <a:r>
              <a:rPr b="1" lang="en-US" sz="2000" spc="-1" strike="noStrike">
                <a:solidFill>
                  <a:schemeClr val="dk1"/>
                </a:solidFill>
                <a:latin typeface="Calibri"/>
              </a:rPr>
              <a:t>Antipsychotics are last-resort</a:t>
            </a:r>
            <a:endParaRPr b="0" lang="en-US" sz="2000" spc="-1" strike="noStrike">
              <a:solidFill>
                <a:schemeClr val="dk1"/>
              </a:solidFill>
              <a:latin typeface="Calibri"/>
            </a:endParaRPr>
          </a:p>
          <a:p>
            <a:pPr marL="343080" indent="-343080" defTabSz="343080">
              <a:lnSpc>
                <a:spcPct val="100000"/>
              </a:lnSpc>
              <a:spcBef>
                <a:spcPts val="400"/>
              </a:spcBef>
              <a:buClr>
                <a:srgbClr val="000000"/>
              </a:buClr>
              <a:buFont typeface="Arial"/>
              <a:buChar char="•"/>
              <a:tabLst>
                <a:tab algn="l" pos="0"/>
              </a:tabLst>
            </a:pPr>
            <a:r>
              <a:rPr b="0" lang="en-US" sz="2000" spc="-1" strike="noStrike">
                <a:solidFill>
                  <a:schemeClr val="dk1"/>
                </a:solidFill>
                <a:latin typeface="Calibri"/>
              </a:rPr>
              <a:t>↑ </a:t>
            </a:r>
            <a:r>
              <a:rPr b="0" lang="en-US" sz="2000" spc="-1" strike="noStrike">
                <a:solidFill>
                  <a:schemeClr val="dk1"/>
                </a:solidFill>
                <a:latin typeface="Calibri"/>
              </a:rPr>
              <a:t>stroke and all-cause mortality (CATIE-AD, FDA black box)</a:t>
            </a:r>
            <a:endParaRPr b="0" lang="en-US" sz="2000" spc="-1" strike="noStrike">
              <a:solidFill>
                <a:schemeClr val="dk1"/>
              </a:solidFill>
              <a:latin typeface="Calibri"/>
            </a:endParaRPr>
          </a:p>
          <a:p>
            <a:pPr marL="343080" indent="-343080" defTabSz="343080">
              <a:lnSpc>
                <a:spcPct val="100000"/>
              </a:lnSpc>
              <a:spcBef>
                <a:spcPts val="400"/>
              </a:spcBef>
              <a:buClr>
                <a:srgbClr val="000000"/>
              </a:buClr>
              <a:buFont typeface="Arial"/>
              <a:buChar char="•"/>
              <a:tabLst>
                <a:tab algn="l" pos="0"/>
              </a:tabLst>
            </a:pPr>
            <a:r>
              <a:rPr b="1" lang="en-US" sz="2000" spc="-1" strike="noStrike">
                <a:solidFill>
                  <a:schemeClr val="dk1"/>
                </a:solidFill>
                <a:latin typeface="Calibri"/>
              </a:rPr>
              <a:t>Severe sensitivity in DLB</a:t>
            </a:r>
            <a:r>
              <a:rPr b="0" lang="en-US" sz="2000" spc="-1" strike="noStrike">
                <a:solidFill>
                  <a:schemeClr val="dk1"/>
                </a:solidFill>
                <a:latin typeface="Calibri"/>
              </a:rPr>
              <a:t>: can cause irreversible parkinsonism / NMS</a:t>
            </a:r>
            <a:endParaRPr b="0" lang="en-US" sz="2000" spc="-1" strike="noStrike">
              <a:solidFill>
                <a:schemeClr val="dk1"/>
              </a:solidFill>
              <a:latin typeface="Calibri"/>
            </a:endParaRPr>
          </a:p>
          <a:p>
            <a:pPr marL="343080" indent="-343080" defTabSz="343080">
              <a:lnSpc>
                <a:spcPct val="100000"/>
              </a:lnSpc>
              <a:spcBef>
                <a:spcPts val="400"/>
              </a:spcBef>
              <a:buClr>
                <a:srgbClr val="000000"/>
              </a:buClr>
              <a:buFont typeface="Arial"/>
              <a:buChar char="•"/>
              <a:tabLst>
                <a:tab algn="l" pos="0"/>
              </a:tabLst>
            </a:pPr>
            <a:r>
              <a:rPr b="0" lang="en-US" sz="2000" spc="-1" strike="noStrike">
                <a:solidFill>
                  <a:schemeClr val="dk1"/>
                </a:solidFill>
                <a:latin typeface="Calibri"/>
              </a:rPr>
              <a:t>Use only when behaviour endangers patient or others, lowest dose, short duration, regular review</a:t>
            </a:r>
            <a:endParaRPr b="0" lang="en-US" sz="20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1" lang="en-US" sz="2400" spc="-1" strike="noStrike">
                <a:solidFill>
                  <a:schemeClr val="dk1"/>
                </a:solidFill>
                <a:latin typeface="Calibri"/>
              </a:rPr>
              <a:t>SSRIs</a:t>
            </a:r>
            <a:r>
              <a:rPr b="0" lang="en-US" sz="2400" spc="-1" strike="noStrike">
                <a:solidFill>
                  <a:schemeClr val="dk1"/>
                </a:solidFill>
                <a:latin typeface="Calibri"/>
              </a:rPr>
              <a:t> for depression (citalopram has agitation evidence, but QTc concern)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1" lang="en-US" sz="2400" spc="-1" strike="noStrike">
                <a:solidFill>
                  <a:schemeClr val="dk1"/>
                </a:solidFill>
                <a:latin typeface="Calibri"/>
              </a:rPr>
              <a:t>Brexpiprazole</a:t>
            </a:r>
            <a:r>
              <a:rPr b="0" lang="en-US" sz="2400" spc="-1" strike="noStrike">
                <a:solidFill>
                  <a:schemeClr val="dk1"/>
                </a:solidFill>
                <a:latin typeface="Calibri"/>
              </a:rPr>
              <a:t>: first FDA approval for agitation in AD, 2023 (not yet NICE-approved on NHS)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1" lang="en-US" sz="2400" spc="-1" strike="noStrike">
                <a:solidFill>
                  <a:schemeClr val="dk1"/>
                </a:solidFill>
                <a:latin typeface="Calibri"/>
              </a:rPr>
              <a:t>Trazodone</a:t>
            </a:r>
            <a:r>
              <a:rPr b="0" lang="en-US" sz="2400" spc="-1" strike="noStrike">
                <a:solidFill>
                  <a:schemeClr val="dk1"/>
                </a:solidFill>
                <a:latin typeface="Calibri"/>
              </a:rPr>
              <a:t>: sleep, agitation; mostly off-label</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1" lang="en-US" sz="2400" spc="-1" strike="noStrike">
                <a:solidFill>
                  <a:schemeClr val="dk1"/>
                </a:solidFill>
                <a:latin typeface="Calibri"/>
              </a:rPr>
              <a:t>Avoid benzodiazepines</a:t>
            </a:r>
            <a:r>
              <a:rPr b="0" lang="en-US" sz="2400" spc="-1" strike="noStrike">
                <a:solidFill>
                  <a:schemeClr val="dk1"/>
                </a:solidFill>
                <a:latin typeface="Calibri"/>
              </a:rPr>
              <a:t>: falls, paradoxical agitation, dependence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Limits of symptomatic treatment</a:t>
            </a:r>
            <a:endParaRPr b="0" lang="en-US" sz="3300" spc="-1" strike="noStrike">
              <a:solidFill>
                <a:schemeClr val="dk1"/>
              </a:solidFill>
              <a:latin typeface="Calibri"/>
            </a:endParaRPr>
          </a:p>
        </p:txBody>
      </p:sp>
      <p:sp>
        <p:nvSpPr>
          <p:cNvPr id="181"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They do not slow neuronal loss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They do not clear Aβ or tau</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They do not change underlying trajectory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A patient on AChEi 5 years from diagnosis has the same brain pathology as one untreated</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fontScale="96377" lnSpcReduction="20000"/>
          </a:bodyPr>
          <a:p>
            <a:pPr indent="0" algn="ctr" defTabSz="343080">
              <a:lnSpc>
                <a:spcPct val="100000"/>
              </a:lnSpc>
              <a:buNone/>
              <a:tabLst>
                <a:tab algn="l" pos="0"/>
              </a:tabLst>
            </a:pPr>
            <a:r>
              <a:rPr b="0" lang="en-US" sz="3300" spc="-1" strike="noStrike">
                <a:solidFill>
                  <a:schemeClr val="dk1"/>
                </a:solidFill>
                <a:latin typeface="Calibri"/>
              </a:rPr>
              <a:t>Audience poll: what is important in clinical trials?</a:t>
            </a:r>
            <a:endParaRPr b="0" lang="en-US" sz="3300" spc="-1" strike="noStrike">
              <a:solidFill>
                <a:schemeClr val="dk1"/>
              </a:solidFill>
              <a:latin typeface="Calibri"/>
            </a:endParaRPr>
          </a:p>
        </p:txBody>
      </p:sp>
      <p:sp>
        <p:nvSpPr>
          <p:cNvPr id="183"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Interactive Slido poll. Not reproduced in the handout.</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5 minute break</a:t>
            </a:r>
            <a:endParaRPr b="0" lang="en-US" sz="33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Part 3 — Disease-modifying treatments</a:t>
            </a:r>
            <a:endParaRPr b="0" lang="en-US" sz="3300" spc="-1" strike="noStrike">
              <a:solidFill>
                <a:schemeClr val="dk1"/>
              </a:solidFill>
              <a:latin typeface="Calibri"/>
            </a:endParaRPr>
          </a:p>
        </p:txBody>
      </p:sp>
      <p:sp>
        <p:nvSpPr>
          <p:cNvPr id="186"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Anti-amyloid antibodies enter the clinic.</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fontScale="96377"/>
          </a:bodyPr>
          <a:p>
            <a:pPr indent="0" algn="ctr" defTabSz="343080">
              <a:lnSpc>
                <a:spcPct val="100000"/>
              </a:lnSpc>
              <a:buNone/>
              <a:tabLst>
                <a:tab algn="l" pos="0"/>
              </a:tabLst>
            </a:pPr>
            <a:r>
              <a:rPr b="0" lang="en-US" sz="3300" spc="-1" strike="noStrike">
                <a:solidFill>
                  <a:schemeClr val="dk1"/>
                </a:solidFill>
                <a:latin typeface="Calibri"/>
              </a:rPr>
              <a:t>The amyloid hypothesis (Hardy &amp; Higgins, 1992)</a:t>
            </a:r>
            <a:endParaRPr b="0" lang="en-US" sz="3300" spc="-1" strike="noStrike">
              <a:solidFill>
                <a:schemeClr val="dk1"/>
              </a:solidFill>
              <a:latin typeface="Calibri"/>
            </a:endParaRPr>
          </a:p>
        </p:txBody>
      </p:sp>
      <p:sp>
        <p:nvSpPr>
          <p:cNvPr id="188"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6628" lnSpcReduction="10000"/>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Aβ accumulation</a:t>
            </a:r>
            <a:r>
              <a:rPr b="0" lang="en-US" sz="2400" spc="-1" strike="noStrike">
                <a:solidFill>
                  <a:schemeClr val="dk1"/>
                </a:solidFill>
                <a:latin typeface="Calibri"/>
              </a:rPr>
              <a:t> is the upstream driver of AD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Genetic anchor: every gene mutation that causes autosomal-dominant AD (</a:t>
            </a:r>
            <a:r>
              <a:rPr b="0" i="1" lang="en-US" sz="2400" spc="-1" strike="noStrike">
                <a:solidFill>
                  <a:schemeClr val="dk1"/>
                </a:solidFill>
                <a:latin typeface="Calibri"/>
              </a:rPr>
              <a:t>APP, PSEN1, PSEN2</a:t>
            </a:r>
            <a:r>
              <a:rPr b="0" lang="en-US" sz="2400" spc="-1" strike="noStrike">
                <a:solidFill>
                  <a:schemeClr val="dk1"/>
                </a:solidFill>
                <a:latin typeface="Calibri"/>
              </a:rPr>
              <a:t>) alters Aβ production or clearance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Down syndrome (trisomy 21 → 3 copies of </a:t>
            </a:r>
            <a:r>
              <a:rPr b="0" i="1" lang="en-US" sz="2400" spc="-1" strike="noStrike">
                <a:solidFill>
                  <a:schemeClr val="dk1"/>
                </a:solidFill>
                <a:latin typeface="Calibri"/>
              </a:rPr>
              <a:t>APP</a:t>
            </a:r>
            <a:r>
              <a:rPr b="0" lang="en-US" sz="2400" spc="-1" strike="noStrike">
                <a:solidFill>
                  <a:schemeClr val="dk1"/>
                </a:solidFill>
                <a:latin typeface="Calibri"/>
              </a:rPr>
              <a:t>) → near-universal AD pathology by age 50</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Tau pathology, inflammation, neurodegeneration: downstream</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Predicted: lower Aβ → less downstream damage → better outcome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Failed anti-amyloid trials</a:t>
            </a:r>
            <a:endParaRPr b="0" lang="en-US" sz="3300" spc="-1" strike="noStrike">
              <a:solidFill>
                <a:schemeClr val="dk1"/>
              </a:solidFill>
              <a:latin typeface="Calibri"/>
            </a:endParaRPr>
          </a:p>
        </p:txBody>
      </p:sp>
      <p:sp>
        <p:nvSpPr>
          <p:cNvPr id="190"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87465" lnSpcReduction="10000"/>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Solanezumab</a:t>
            </a:r>
            <a:r>
              <a:rPr b="0" lang="en-US" sz="2400" spc="-1" strike="noStrike">
                <a:solidFill>
                  <a:schemeClr val="dk1"/>
                </a:solidFill>
                <a:latin typeface="Calibri"/>
              </a:rPr>
              <a:t>: Eli Lilly; failed Phase 3 in mild AD (2014, 2016)</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Bapineuzumab</a:t>
            </a:r>
            <a:r>
              <a:rPr b="0" lang="en-US" sz="2400" spc="-1" strike="noStrike">
                <a:solidFill>
                  <a:schemeClr val="dk1"/>
                </a:solidFill>
                <a:latin typeface="Calibri"/>
              </a:rPr>
              <a:t>: Pfizer/J&amp;J; failed (2012); high rate of vasogenic edema</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Crenezumab</a:t>
            </a:r>
            <a:r>
              <a:rPr b="0" lang="en-US" sz="2400" spc="-1" strike="noStrike">
                <a:solidFill>
                  <a:schemeClr val="dk1"/>
                </a:solidFill>
                <a:latin typeface="Calibri"/>
              </a:rPr>
              <a:t>: Roche; failed (2019)</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Gantenerumab</a:t>
            </a:r>
            <a:r>
              <a:rPr b="0" lang="en-US" sz="2400" spc="-1" strike="noStrike">
                <a:solidFill>
                  <a:schemeClr val="dk1"/>
                </a:solidFill>
                <a:latin typeface="Calibri"/>
              </a:rPr>
              <a:t>: Roche; first GRADUATE trials negative (2022); reformulated for prevention</a:t>
            </a:r>
            <a:endParaRPr b="0" lang="en-US" sz="2400" spc="-1" strike="noStrike">
              <a:solidFill>
                <a:schemeClr val="dk1"/>
              </a:solidFill>
              <a:latin typeface="Calibri"/>
            </a:endParaRPr>
          </a:p>
          <a:p>
            <a:pPr indent="0" defTabSz="343080">
              <a:lnSpc>
                <a:spcPct val="100000"/>
              </a:lnSpc>
              <a:spcBef>
                <a:spcPts val="479"/>
              </a:spcBef>
              <a:buNone/>
              <a:tabLst>
                <a:tab algn="l" pos="0"/>
              </a:tabLst>
            </a:pPr>
            <a:r>
              <a:rPr b="1" lang="en-US" sz="2400" spc="-1" strike="noStrike">
                <a:solidFill>
                  <a:schemeClr val="dk1"/>
                </a:solidFill>
                <a:latin typeface="Calibri"/>
              </a:rPr>
              <a:t>Lessons learned</a:t>
            </a:r>
            <a:r>
              <a:rPr b="0" lang="en-US" sz="2400" spc="-1" strike="noStrike">
                <a:solidFill>
                  <a:schemeClr val="dk1"/>
                </a:solidFill>
                <a:latin typeface="Calibri"/>
              </a:rPr>
              <a:t>:</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Treating too late (pathology has spread for 15+ years)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Targeting the wrong species (monomer vs oligomer vs plaque)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Insufficient brain penetration / dosing</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Endpoint too noisy in mild populations</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Aducanumab (2021)</a:t>
            </a:r>
            <a:endParaRPr b="0" lang="en-US" sz="3300" spc="-1" strike="noStrike">
              <a:solidFill>
                <a:schemeClr val="dk1"/>
              </a:solidFill>
              <a:latin typeface="Calibri"/>
            </a:endParaRPr>
          </a:p>
        </p:txBody>
      </p:sp>
      <p:sp>
        <p:nvSpPr>
          <p:cNvPr id="192"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3713"/>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Two Phase 3 trials (EMERGE, ENGAGE): discordant; pre-specified analysis was negative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Post-hoc reanalysis at high dose suggested cognitive benefit on EMERGE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FDA accelerated approval</a:t>
            </a:r>
            <a:r>
              <a:rPr b="0" lang="en-US" sz="2400" spc="-1" strike="noStrike">
                <a:solidFill>
                  <a:schemeClr val="dk1"/>
                </a:solidFill>
                <a:latin typeface="Calibri"/>
              </a:rPr>
              <a:t> June 2021, over near-unanimous advisory panel objection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EMA </a:t>
            </a:r>
            <a:r>
              <a:rPr b="1" lang="en-US" sz="2400" spc="-1" strike="noStrike">
                <a:solidFill>
                  <a:schemeClr val="dk1"/>
                </a:solidFill>
                <a:latin typeface="Calibri"/>
              </a:rPr>
              <a:t>refused</a:t>
            </a:r>
            <a:r>
              <a:rPr b="0" lang="en-US" sz="2400" spc="-1" strike="noStrike">
                <a:solidFill>
                  <a:schemeClr val="dk1"/>
                </a:solidFill>
                <a:latin typeface="Calibri"/>
              </a:rPr>
              <a:t> authorisation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NHS / NICE: </a:t>
            </a:r>
            <a:r>
              <a:rPr b="1" lang="en-US" sz="2400" spc="-1" strike="noStrike">
                <a:solidFill>
                  <a:schemeClr val="dk1"/>
                </a:solidFill>
                <a:latin typeface="Calibri"/>
              </a:rPr>
              <a:t>not commissioned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Eli Lilly withdrew it from market 2024</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Lecanemab: CLARITY-AD (2023)</a:t>
            </a:r>
            <a:endParaRPr b="0" lang="en-US" sz="3300" spc="-1" strike="noStrike">
              <a:solidFill>
                <a:schemeClr val="dk1"/>
              </a:solidFill>
              <a:latin typeface="Calibri"/>
            </a:endParaRPr>
          </a:p>
        </p:txBody>
      </p:sp>
      <p:pic>
        <p:nvPicPr>
          <p:cNvPr id="194" name="Picture 1" descr="Pictures_pptx/lecanemab_card.png"/>
          <p:cNvPicPr/>
          <p:nvPr/>
        </p:nvPicPr>
        <p:blipFill>
          <a:blip r:embed="rId1"/>
          <a:stretch/>
        </p:blipFill>
        <p:spPr>
          <a:xfrm>
            <a:off x="2324160" y="1193760"/>
            <a:ext cx="4495320" cy="2882520"/>
          </a:xfrm>
          <a:prstGeom prst="rect">
            <a:avLst/>
          </a:prstGeom>
          <a:ln w="9525">
            <a:noFill/>
          </a:ln>
        </p:spPr>
      </p:pic>
      <p:sp>
        <p:nvSpPr>
          <p:cNvPr id="195" name="TextBox 3"/>
          <p:cNvSpPr/>
          <p:nvPr/>
        </p:nvSpPr>
        <p:spPr>
          <a:xfrm>
            <a:off x="457200" y="4076640"/>
            <a:ext cx="8229240" cy="507600"/>
          </a:xfrm>
          <a:prstGeom prst="rect">
            <a:avLst/>
          </a:prstGeom>
          <a:noFill/>
          <a:ln w="0">
            <a:noFill/>
          </a:ln>
        </p:spPr>
        <p:style>
          <a:lnRef idx="0"/>
          <a:fillRef idx="0"/>
          <a:effectRef idx="0"/>
          <a:fontRef idx="minor"/>
        </p:style>
        <p:txBody>
          <a:bodyPr lIns="90000" rIns="90000" tIns="45000" bIns="45000" anchor="t">
            <a:normAutofit fontScale="75000"/>
          </a:bodyPr>
          <a:p>
            <a:pPr algn="ctr" defTabSz="457200">
              <a:lnSpc>
                <a:spcPct val="100000"/>
              </a:lnSpc>
              <a:tabLst>
                <a:tab algn="l" pos="0"/>
              </a:tabLst>
            </a:pPr>
            <a:r>
              <a:rPr b="0" lang="en-US" sz="1800" spc="-1" strike="noStrike">
                <a:solidFill>
                  <a:schemeClr val="dk1"/>
                </a:solidFill>
                <a:latin typeface="Calibri"/>
              </a:rPr>
              <a:t>Lecanemab CLARITY-AD trial summary: efficacy (CDR-SB curves), safety (ARIA by APOE genotype), and regulatory status.</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Donanemab: TRAILBLAZER-ALZ 2 (2024)</a:t>
            </a:r>
            <a:endParaRPr b="0" lang="en-US" sz="3300" spc="-1" strike="noStrike">
              <a:solidFill>
                <a:schemeClr val="dk1"/>
              </a:solidFill>
              <a:latin typeface="Calibri"/>
            </a:endParaRPr>
          </a:p>
        </p:txBody>
      </p:sp>
      <p:pic>
        <p:nvPicPr>
          <p:cNvPr id="197" name="Picture 1" descr="Pictures_pptx/donanemab_card.png"/>
          <p:cNvPicPr/>
          <p:nvPr/>
        </p:nvPicPr>
        <p:blipFill>
          <a:blip r:embed="rId1"/>
          <a:stretch/>
        </p:blipFill>
        <p:spPr>
          <a:xfrm>
            <a:off x="2324160" y="1193760"/>
            <a:ext cx="4495320" cy="2882520"/>
          </a:xfrm>
          <a:prstGeom prst="rect">
            <a:avLst/>
          </a:prstGeom>
          <a:ln w="9525">
            <a:noFill/>
          </a:ln>
        </p:spPr>
      </p:pic>
      <p:sp>
        <p:nvSpPr>
          <p:cNvPr id="198" name="TextBox 3"/>
          <p:cNvSpPr/>
          <p:nvPr/>
        </p:nvSpPr>
        <p:spPr>
          <a:xfrm>
            <a:off x="457200" y="4076640"/>
            <a:ext cx="8229240" cy="507600"/>
          </a:xfrm>
          <a:prstGeom prst="rect">
            <a:avLst/>
          </a:prstGeom>
          <a:noFill/>
          <a:ln w="0">
            <a:noFill/>
          </a:ln>
        </p:spPr>
        <p:style>
          <a:lnRef idx="0"/>
          <a:fillRef idx="0"/>
          <a:effectRef idx="0"/>
          <a:fontRef idx="minor"/>
        </p:style>
        <p:txBody>
          <a:bodyPr lIns="90000" rIns="90000" tIns="45000" bIns="45000" anchor="t">
            <a:normAutofit fontScale="75000"/>
          </a:bodyPr>
          <a:p>
            <a:pPr algn="ctr" defTabSz="457200">
              <a:lnSpc>
                <a:spcPct val="100000"/>
              </a:lnSpc>
              <a:tabLst>
                <a:tab algn="l" pos="0"/>
              </a:tabLst>
            </a:pPr>
            <a:r>
              <a:rPr b="0" lang="en-US" sz="1800" spc="-1" strike="noStrike">
                <a:solidFill>
                  <a:schemeClr val="dk1"/>
                </a:solidFill>
                <a:latin typeface="Calibri"/>
              </a:rPr>
              <a:t>Donanemab TRAILBLAZER-ALZ 2 trial summary: efficacy (iADRS curves and CDR-SB), safety (ARIA-E and ARIA-H vs placebo), and regulatory.</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Antibody specificity</a:t>
            </a:r>
            <a:endParaRPr b="0" lang="en-US" sz="3300" spc="-1" strike="noStrike">
              <a:solidFill>
                <a:schemeClr val="dk1"/>
              </a:solidFill>
              <a:latin typeface="Calibri"/>
            </a:endParaRPr>
          </a:p>
        </p:txBody>
      </p:sp>
      <p:sp>
        <p:nvSpPr>
          <p:cNvPr id="200"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The three anti-amyloid antibodies target different Aβ species along the aggregation pathway: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1" lang="en-US" sz="2400" spc="-1" strike="noStrike">
                <a:solidFill>
                  <a:schemeClr val="dk1"/>
                </a:solidFill>
                <a:latin typeface="Calibri"/>
              </a:rPr>
              <a:t>Aducanumab</a:t>
            </a:r>
            <a:r>
              <a:rPr b="0" lang="en-US" sz="2400" spc="-1" strike="noStrike">
                <a:solidFill>
                  <a:schemeClr val="dk1"/>
                </a:solidFill>
                <a:latin typeface="Calibri"/>
              </a:rPr>
              <a:t>: oligomers + fibrils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1" lang="en-US" sz="2400" spc="-1" strike="noStrike">
                <a:solidFill>
                  <a:schemeClr val="dk1"/>
                </a:solidFill>
                <a:latin typeface="Calibri"/>
              </a:rPr>
              <a:t>Lecanemab</a:t>
            </a:r>
            <a:r>
              <a:rPr b="0" lang="en-US" sz="2400" spc="-1" strike="noStrike">
                <a:solidFill>
                  <a:schemeClr val="dk1"/>
                </a:solidFill>
                <a:latin typeface="Calibri"/>
              </a:rPr>
              <a:t>: protofibrils selectively</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1" lang="en-US" sz="2400" spc="-1" strike="noStrike">
                <a:solidFill>
                  <a:schemeClr val="dk1"/>
                </a:solidFill>
                <a:latin typeface="Calibri"/>
              </a:rPr>
              <a:t>Donanemab</a:t>
            </a:r>
            <a:r>
              <a:rPr b="0" lang="en-US" sz="2400" spc="-1" strike="noStrike">
                <a:solidFill>
                  <a:schemeClr val="dk1"/>
                </a:solidFill>
                <a:latin typeface="Calibri"/>
              </a:rPr>
              <a:t>: pyroglutamate-modified plaques only</a:t>
            </a:r>
            <a:endParaRPr b="0" lang="en-US" sz="2400" spc="-1" strike="noStrike">
              <a:solidFill>
                <a:schemeClr val="dk1"/>
              </a:solidFill>
              <a:latin typeface="Calibri"/>
            </a:endParaRPr>
          </a:p>
          <a:p>
            <a:pPr indent="0" defTabSz="343080">
              <a:lnSpc>
                <a:spcPct val="100000"/>
              </a:lnSpc>
              <a:spcBef>
                <a:spcPts val="479"/>
              </a:spcBef>
              <a:buNone/>
              <a:tabLst>
                <a:tab algn="l" pos="0"/>
              </a:tabLst>
            </a:pPr>
            <a:r>
              <a:rPr b="0" lang="en-US" sz="2400" spc="-1" strike="noStrike">
                <a:solidFill>
                  <a:schemeClr val="dk1"/>
                </a:solidFill>
                <a:latin typeface="Calibri"/>
              </a:rPr>
              <a:t>The aggregation pathway runs: monomer → oligomer → protofibril → plaque.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1"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Patient selection</a:t>
            </a:r>
            <a:endParaRPr b="0" lang="en-US" sz="3300" spc="-1" strike="noStrike">
              <a:solidFill>
                <a:schemeClr val="dk1"/>
              </a:solidFill>
              <a:latin typeface="Calibri"/>
            </a:endParaRPr>
          </a:p>
        </p:txBody>
      </p:sp>
      <p:sp>
        <p:nvSpPr>
          <p:cNvPr id="202"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6628" lnSpcReduction="10000"/>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Confirmed Aβ pathology</a:t>
            </a:r>
            <a:r>
              <a:rPr b="0" lang="en-US" sz="2400" spc="-1" strike="noStrike">
                <a:solidFill>
                  <a:schemeClr val="dk1"/>
                </a:solidFill>
                <a:latin typeface="Calibri"/>
              </a:rPr>
              <a:t>: amyloid-PET or CSF Aβ42/40</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Disease stage</a:t>
            </a:r>
            <a:r>
              <a:rPr b="0" lang="en-US" sz="2400" spc="-1" strike="noStrike">
                <a:solidFill>
                  <a:schemeClr val="dk1"/>
                </a:solidFill>
                <a:latin typeface="Calibri"/>
              </a:rPr>
              <a:t>: MCI or mild AD dementia (not moderate or severe)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MRI suitable</a:t>
            </a:r>
            <a:r>
              <a:rPr b="0" lang="en-US" sz="2400" spc="-1" strike="noStrike">
                <a:solidFill>
                  <a:schemeClr val="dk1"/>
                </a:solidFill>
                <a:latin typeface="Calibri"/>
              </a:rPr>
              <a:t>: no severe cerebral amyloid angiopathy, ≤4 microbleeds, no superficial siderosis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Anticoagulation</a:t>
            </a:r>
            <a:r>
              <a:rPr b="0" lang="en-US" sz="2400" spc="-1" strike="noStrike">
                <a:solidFill>
                  <a:schemeClr val="dk1"/>
                </a:solidFill>
                <a:latin typeface="Calibri"/>
              </a:rPr>
              <a:t>: caution or contraindication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APOE4 genotyping</a:t>
            </a:r>
            <a:r>
              <a:rPr b="0" lang="en-US" sz="2400" spc="-1" strike="noStrike">
                <a:solidFill>
                  <a:schemeClr val="dk1"/>
                </a:solidFill>
                <a:latin typeface="Calibri"/>
              </a:rPr>
              <a:t>: needed for ARIA risk counselling</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Capable of attending infusions</a:t>
            </a:r>
            <a:r>
              <a:rPr b="0" lang="en-US" sz="2400" spc="-1" strike="noStrike">
                <a:solidFill>
                  <a:schemeClr val="dk1"/>
                </a:solidFill>
                <a:latin typeface="Calibri"/>
              </a:rPr>
              <a:t> every 2–4 weeks for 18+ months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Capacity</a:t>
            </a:r>
            <a:r>
              <a:rPr b="0" lang="en-US" sz="2400" spc="-1" strike="noStrike">
                <a:solidFill>
                  <a:schemeClr val="dk1"/>
                </a:solidFill>
                <a:latin typeface="Calibri"/>
              </a:rPr>
              <a:t> to consent</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APOE genotype and ARIA-E risk</a:t>
            </a:r>
            <a:endParaRPr b="0" lang="en-US" sz="3300" spc="-1" strike="noStrike">
              <a:solidFill>
                <a:schemeClr val="dk1"/>
              </a:solidFill>
              <a:latin typeface="Calibri"/>
            </a:endParaRPr>
          </a:p>
        </p:txBody>
      </p:sp>
      <p:pic>
        <p:nvPicPr>
          <p:cNvPr id="204" name="Picture 1" descr="Pictures_pptx/apoe_risk.png"/>
          <p:cNvPicPr/>
          <p:nvPr/>
        </p:nvPicPr>
        <p:blipFill>
          <a:blip r:embed="rId1"/>
          <a:stretch/>
        </p:blipFill>
        <p:spPr>
          <a:xfrm>
            <a:off x="2324160" y="1193760"/>
            <a:ext cx="4495320" cy="2882520"/>
          </a:xfrm>
          <a:prstGeom prst="rect">
            <a:avLst/>
          </a:prstGeom>
          <a:ln w="9525">
            <a:noFill/>
          </a:ln>
        </p:spPr>
      </p:pic>
      <p:sp>
        <p:nvSpPr>
          <p:cNvPr id="205" name="TextBox 3"/>
          <p:cNvSpPr/>
          <p:nvPr/>
        </p:nvSpPr>
        <p:spPr>
          <a:xfrm>
            <a:off x="457200" y="4076640"/>
            <a:ext cx="8229240" cy="507600"/>
          </a:xfrm>
          <a:prstGeom prst="rect">
            <a:avLst/>
          </a:prstGeom>
          <a:noFill/>
          <a:ln w="0">
            <a:noFill/>
          </a:ln>
        </p:spPr>
        <p:style>
          <a:lnRef idx="0"/>
          <a:fillRef idx="0"/>
          <a:effectRef idx="0"/>
          <a:fontRef idx="minor"/>
        </p:style>
        <p:txBody>
          <a:bodyPr lIns="90000" rIns="90000" tIns="45000" bIns="45000" anchor="t">
            <a:normAutofit fontScale="75000"/>
          </a:bodyPr>
          <a:p>
            <a:pPr algn="ctr" defTabSz="457200">
              <a:lnSpc>
                <a:spcPct val="100000"/>
              </a:lnSpc>
              <a:tabLst>
                <a:tab algn="l" pos="0"/>
              </a:tabLst>
            </a:pPr>
            <a:r>
              <a:rPr b="0" lang="en-US" sz="1800" spc="-1" strike="noStrike">
                <a:solidFill>
                  <a:schemeClr val="dk1"/>
                </a:solidFill>
                <a:latin typeface="Calibri"/>
              </a:rPr>
              <a:t>ARIA-E risk by APOE genotype for lecanemab and donanemab. Risk rises sharply in heterozygotes and is highest in homozygotes for both drugs.</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ARIA</a:t>
            </a:r>
            <a:endParaRPr b="0" lang="en-US" sz="3300" spc="-1" strike="noStrike">
              <a:solidFill>
                <a:schemeClr val="dk1"/>
              </a:solidFill>
              <a:latin typeface="Calibri"/>
            </a:endParaRPr>
          </a:p>
        </p:txBody>
      </p:sp>
      <p:sp>
        <p:nvSpPr>
          <p:cNvPr id="207"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58726"/>
          </a:bodyPr>
          <a:p>
            <a:pPr indent="0" defTabSz="343080">
              <a:lnSpc>
                <a:spcPct val="100000"/>
              </a:lnSpc>
              <a:spcBef>
                <a:spcPts val="479"/>
              </a:spcBef>
              <a:buNone/>
              <a:tabLst>
                <a:tab algn="l" pos="0"/>
              </a:tabLst>
            </a:pPr>
            <a:r>
              <a:rPr b="1" lang="en-US" sz="2400" spc="-1" strike="noStrike">
                <a:solidFill>
                  <a:schemeClr val="dk1"/>
                </a:solidFill>
                <a:latin typeface="Calibri"/>
              </a:rPr>
              <a:t>ARIA-E (oedema, effusion)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Vasogenic oedema, leptomeningeal effusion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Best seen on </a:t>
            </a:r>
            <a:r>
              <a:rPr b="1" lang="en-US" sz="2400" spc="-1" strike="noStrike">
                <a:solidFill>
                  <a:schemeClr val="dk1"/>
                </a:solidFill>
                <a:latin typeface="Calibri"/>
              </a:rPr>
              <a:t>FLAIR</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Most asymptomatic; caught on surveillance MRI</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Can present with headache, confusion, focal symptoms, seizures</a:t>
            </a:r>
            <a:endParaRPr b="0" lang="en-US" sz="2400" spc="-1" strike="noStrike">
              <a:solidFill>
                <a:schemeClr val="dk1"/>
              </a:solidFill>
              <a:latin typeface="Calibri"/>
            </a:endParaRPr>
          </a:p>
          <a:p>
            <a:pPr indent="0" defTabSz="343080">
              <a:lnSpc>
                <a:spcPct val="100000"/>
              </a:lnSpc>
              <a:spcBef>
                <a:spcPts val="479"/>
              </a:spcBef>
              <a:buNone/>
              <a:tabLst>
                <a:tab algn="l" pos="0"/>
              </a:tabLst>
            </a:pPr>
            <a:r>
              <a:rPr b="1" lang="en-US" sz="2400" spc="-1" strike="noStrike">
                <a:solidFill>
                  <a:schemeClr val="dk1"/>
                </a:solidFill>
                <a:latin typeface="Calibri"/>
              </a:rPr>
              <a:t>ARIA-H (haemorrhage)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Microbleeds, superficial siderosis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Best seen on </a:t>
            </a:r>
            <a:r>
              <a:rPr b="1" lang="en-US" sz="2400" spc="-1" strike="noStrike">
                <a:solidFill>
                  <a:schemeClr val="dk1"/>
                </a:solidFill>
                <a:latin typeface="Calibri"/>
              </a:rPr>
              <a:t>SWI / GRE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Usually asymptomatic; persists indefinitely after resolution</a:t>
            </a:r>
            <a:endParaRPr b="0" lang="en-US" sz="2400" spc="-1" strike="noStrike">
              <a:solidFill>
                <a:schemeClr val="dk1"/>
              </a:solidFill>
              <a:latin typeface="Calibri"/>
            </a:endParaRPr>
          </a:p>
          <a:p>
            <a:pPr indent="0" defTabSz="343080">
              <a:lnSpc>
                <a:spcPct val="100000"/>
              </a:lnSpc>
              <a:spcBef>
                <a:spcPts val="479"/>
              </a:spcBef>
              <a:buNone/>
              <a:tabLst>
                <a:tab algn="l" pos="0"/>
              </a:tabLst>
            </a:pPr>
            <a:r>
              <a:rPr b="1" lang="en-US" sz="2400" spc="-1" strike="noStrike">
                <a:solidFill>
                  <a:schemeClr val="dk1"/>
                </a:solidFill>
                <a:latin typeface="Calibri"/>
              </a:rPr>
              <a:t>Severity and surveillance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Mostly mild; ~3% serious; rare deaths reported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tabLst>
                <a:tab algn="l" pos="0"/>
              </a:tabLst>
            </a:pPr>
            <a:r>
              <a:rPr b="0" lang="en-US" sz="2400" spc="-1" strike="noStrike">
                <a:solidFill>
                  <a:schemeClr val="dk1"/>
                </a:solidFill>
                <a:latin typeface="Calibri"/>
              </a:rPr>
              <a:t>Surveillance MRI before infusions 5, 7, 14 (lecanemab) or 2, 3, 4, 7 (donanemab)</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APOE4 and ARIA risk</a:t>
            </a:r>
            <a:endParaRPr b="0" lang="en-US" sz="3300" spc="-1" strike="noStrike">
              <a:solidFill>
                <a:schemeClr val="dk1"/>
              </a:solidFill>
              <a:latin typeface="Calibri"/>
            </a:endParaRPr>
          </a:p>
        </p:txBody>
      </p:sp>
      <p:graphicFrame>
        <p:nvGraphicFramePr>
          <p:cNvPr id="209" name="Content Placeholder 5"/>
          <p:cNvGraphicFramePr/>
          <p:nvPr/>
        </p:nvGraphicFramePr>
        <p:xfrm>
          <a:off x="457200" y="1193760"/>
          <a:ext cx="8229240" cy="1051200"/>
        </p:xfrm>
        <a:graphic>
          <a:graphicData uri="http://schemas.openxmlformats.org/drawingml/2006/table">
            <a:tbl>
              <a:tblPr/>
              <a:tblGrid>
                <a:gridCol w="2743200"/>
                <a:gridCol w="2743200"/>
                <a:gridCol w="2743200"/>
              </a:tblGrid>
              <a:tr h="0">
                <a:tc>
                  <a:txBody>
                    <a:bodyPr anchor="t">
                      <a:noAutofit/>
                    </a:bodyPr>
                    <a:p>
                      <a:pPr defTabSz="343080">
                        <a:lnSpc>
                          <a:spcPct val="100000"/>
                        </a:lnSpc>
                        <a:tabLst>
                          <a:tab algn="l" pos="0"/>
                        </a:tabLst>
                      </a:pPr>
                      <a:r>
                        <a:rPr b="0" lang="en-US" sz="1350" spc="-1" strike="noStrike">
                          <a:solidFill>
                            <a:srgbClr val="ffffff"/>
                          </a:solidFill>
                          <a:latin typeface="Calibri"/>
                        </a:rPr>
                        <a:t>APOE genotype</a:t>
                      </a:r>
                      <a:endParaRPr b="0" lang="en-GB" sz="135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343080">
                        <a:lnSpc>
                          <a:spcPct val="100000"/>
                        </a:lnSpc>
                        <a:tabLst>
                          <a:tab algn="l" pos="0"/>
                        </a:tabLst>
                      </a:pPr>
                      <a:r>
                        <a:rPr b="0" lang="en-US" sz="1350" spc="-1" strike="noStrike">
                          <a:solidFill>
                            <a:srgbClr val="ffffff"/>
                          </a:solidFill>
                          <a:latin typeface="Calibri"/>
                        </a:rPr>
                        <a:t>Lecanemab ARIA-E</a:t>
                      </a:r>
                      <a:endParaRPr b="0" lang="en-GB" sz="135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c>
                  <a:txBody>
                    <a:bodyPr anchor="t">
                      <a:noAutofit/>
                    </a:bodyPr>
                    <a:p>
                      <a:pPr defTabSz="343080">
                        <a:lnSpc>
                          <a:spcPct val="100000"/>
                        </a:lnSpc>
                        <a:tabLst>
                          <a:tab algn="l" pos="0"/>
                        </a:tabLst>
                      </a:pPr>
                      <a:r>
                        <a:rPr b="0" lang="en-US" sz="1350" spc="-1" strike="noStrike">
                          <a:solidFill>
                            <a:srgbClr val="ffffff"/>
                          </a:solidFill>
                          <a:latin typeface="Calibri"/>
                        </a:rPr>
                        <a:t>Donanemab ARIA-E</a:t>
                      </a:r>
                      <a:endParaRPr b="0" lang="en-GB" sz="1350" spc="-1" strike="noStrike">
                        <a:solidFill>
                          <a:srgbClr val="ffffff"/>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4f81bd"/>
                    </a:solidFill>
                  </a:tcPr>
                </a:tc>
              </a:tr>
              <a:tr h="0">
                <a:tc>
                  <a:txBody>
                    <a:bodyPr anchor="t">
                      <a:noAutofit/>
                    </a:bodyPr>
                    <a:p>
                      <a:pPr defTabSz="343080">
                        <a:lnSpc>
                          <a:spcPct val="100000"/>
                        </a:lnSpc>
                        <a:tabLst>
                          <a:tab algn="l" pos="0"/>
                        </a:tabLst>
                      </a:pPr>
                      <a:r>
                        <a:rPr b="0" lang="en-US" sz="1350" spc="-1" strike="noStrike">
                          <a:solidFill>
                            <a:srgbClr val="000000"/>
                          </a:solidFill>
                          <a:latin typeface="Calibri"/>
                        </a:rPr>
                        <a:t>Non-carrier</a:t>
                      </a:r>
                      <a:endParaRPr b="0" lang="en-GB" sz="135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343080">
                        <a:lnSpc>
                          <a:spcPct val="100000"/>
                        </a:lnSpc>
                        <a:tabLst>
                          <a:tab algn="l" pos="0"/>
                        </a:tabLst>
                      </a:pPr>
                      <a:r>
                        <a:rPr b="0" lang="en-US" sz="1350" spc="-1" strike="noStrike">
                          <a:solidFill>
                            <a:srgbClr val="000000"/>
                          </a:solidFill>
                          <a:latin typeface="Calibri"/>
                        </a:rPr>
                        <a:t>~5%</a:t>
                      </a:r>
                      <a:endParaRPr b="0" lang="en-GB" sz="135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343080">
                        <a:lnSpc>
                          <a:spcPct val="100000"/>
                        </a:lnSpc>
                        <a:tabLst>
                          <a:tab algn="l" pos="0"/>
                        </a:tabLst>
                      </a:pPr>
                      <a:r>
                        <a:rPr b="0" lang="en-US" sz="1350" spc="-1" strike="noStrike">
                          <a:solidFill>
                            <a:srgbClr val="000000"/>
                          </a:solidFill>
                          <a:latin typeface="Calibri"/>
                        </a:rPr>
                        <a:t>~16%</a:t>
                      </a:r>
                      <a:endParaRPr b="0" lang="en-GB" sz="135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r h="0">
                <a:tc>
                  <a:txBody>
                    <a:bodyPr anchor="t">
                      <a:noAutofit/>
                    </a:bodyPr>
                    <a:p>
                      <a:pPr defTabSz="343080">
                        <a:lnSpc>
                          <a:spcPct val="100000"/>
                        </a:lnSpc>
                        <a:tabLst>
                          <a:tab algn="l" pos="0"/>
                        </a:tabLst>
                      </a:pPr>
                      <a:r>
                        <a:rPr b="0" lang="en-US" sz="1350" spc="-1" strike="noStrike">
                          <a:solidFill>
                            <a:srgbClr val="000000"/>
                          </a:solidFill>
                          <a:latin typeface="Calibri"/>
                        </a:rPr>
                        <a:t>Heterozygote</a:t>
                      </a:r>
                      <a:endParaRPr b="0" lang="en-GB" sz="135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343080">
                        <a:lnSpc>
                          <a:spcPct val="100000"/>
                        </a:lnSpc>
                        <a:tabLst>
                          <a:tab algn="l" pos="0"/>
                        </a:tabLst>
                      </a:pPr>
                      <a:r>
                        <a:rPr b="0" lang="en-US" sz="1350" spc="-1" strike="noStrike">
                          <a:solidFill>
                            <a:srgbClr val="000000"/>
                          </a:solidFill>
                          <a:latin typeface="Calibri"/>
                        </a:rPr>
                        <a:t>~11%</a:t>
                      </a:r>
                      <a:endParaRPr b="0" lang="en-GB" sz="135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c>
                  <a:txBody>
                    <a:bodyPr anchor="t">
                      <a:noAutofit/>
                    </a:bodyPr>
                    <a:p>
                      <a:pPr defTabSz="343080">
                        <a:lnSpc>
                          <a:spcPct val="100000"/>
                        </a:lnSpc>
                        <a:tabLst>
                          <a:tab algn="l" pos="0"/>
                        </a:tabLst>
                      </a:pPr>
                      <a:r>
                        <a:rPr b="0" lang="en-US" sz="1350" spc="-1" strike="noStrike">
                          <a:solidFill>
                            <a:srgbClr val="000000"/>
                          </a:solidFill>
                          <a:latin typeface="Calibri"/>
                        </a:rPr>
                        <a:t>~23%</a:t>
                      </a:r>
                      <a:endParaRPr b="0" lang="en-GB" sz="135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9ecf3"/>
                    </a:solidFill>
                  </a:tcPr>
                </a:tc>
              </a:tr>
              <a:tr h="0">
                <a:tc>
                  <a:txBody>
                    <a:bodyPr anchor="t">
                      <a:noAutofit/>
                    </a:bodyPr>
                    <a:p>
                      <a:pPr defTabSz="343080">
                        <a:lnSpc>
                          <a:spcPct val="100000"/>
                        </a:lnSpc>
                        <a:tabLst>
                          <a:tab algn="l" pos="0"/>
                        </a:tabLst>
                      </a:pPr>
                      <a:r>
                        <a:rPr b="1" lang="en-US" sz="1350" spc="-1" strike="noStrike">
                          <a:solidFill>
                            <a:srgbClr val="000000"/>
                          </a:solidFill>
                          <a:latin typeface="Calibri"/>
                        </a:rPr>
                        <a:t>Homozygote</a:t>
                      </a:r>
                      <a:endParaRPr b="0" lang="en-GB" sz="135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343080">
                        <a:lnSpc>
                          <a:spcPct val="100000"/>
                        </a:lnSpc>
                        <a:tabLst>
                          <a:tab algn="l" pos="0"/>
                        </a:tabLst>
                      </a:pPr>
                      <a:r>
                        <a:rPr b="1" lang="en-US" sz="1350" spc="-1" strike="noStrike">
                          <a:solidFill>
                            <a:srgbClr val="000000"/>
                          </a:solidFill>
                          <a:latin typeface="Calibri"/>
                        </a:rPr>
                        <a:t>~33%</a:t>
                      </a:r>
                      <a:endParaRPr b="0" lang="en-GB" sz="135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c>
                  <a:txBody>
                    <a:bodyPr anchor="t">
                      <a:noAutofit/>
                    </a:bodyPr>
                    <a:p>
                      <a:pPr defTabSz="343080">
                        <a:lnSpc>
                          <a:spcPct val="100000"/>
                        </a:lnSpc>
                        <a:tabLst>
                          <a:tab algn="l" pos="0"/>
                        </a:tabLst>
                      </a:pPr>
                      <a:r>
                        <a:rPr b="1" lang="en-US" sz="1350" spc="-1" strike="noStrike">
                          <a:solidFill>
                            <a:srgbClr val="000000"/>
                          </a:solidFill>
                          <a:latin typeface="Calibri"/>
                        </a:rPr>
                        <a:t>~41%</a:t>
                      </a:r>
                      <a:endParaRPr b="0" lang="en-GB" sz="1350" spc="-1" strike="noStrike">
                        <a:solidFill>
                          <a:srgbClr val="000000"/>
                        </a:solidFill>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d0d8e7"/>
                    </a:solidFill>
                  </a:tcPr>
                </a:tc>
              </a:tr>
            </a:tbl>
          </a:graphicData>
        </a:graphic>
      </p:graphicFrame>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UK implementation</a:t>
            </a:r>
            <a:endParaRPr b="0" lang="en-US" sz="3300" spc="-1" strike="noStrike">
              <a:solidFill>
                <a:schemeClr val="dk1"/>
              </a:solidFill>
              <a:latin typeface="Calibri"/>
            </a:endParaRPr>
          </a:p>
        </p:txBody>
      </p:sp>
      <p:sp>
        <p:nvSpPr>
          <p:cNvPr id="211"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87465" lnSpcReduction="10000"/>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Drug cost</a:t>
            </a:r>
            <a:r>
              <a:rPr b="0" lang="en-US" sz="2400" spc="-1" strike="noStrike">
                <a:solidFill>
                  <a:schemeClr val="dk1"/>
                </a:solidFill>
                <a:latin typeface="Calibri"/>
              </a:rPr>
              <a:t>: £20–25k per patient per year (lecanemab list)</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Infrastructure</a:t>
            </a:r>
            <a:r>
              <a:rPr b="0" lang="en-US" sz="2400" spc="-1" strike="noStrike">
                <a:solidFill>
                  <a:schemeClr val="dk1"/>
                </a:solidFill>
                <a:latin typeface="Calibri"/>
              </a:rPr>
              <a:t>: infusion suite every 2 (lecanemab) or 4 (donanemab) weeks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Surveillance MRI</a:t>
            </a:r>
            <a:r>
              <a:rPr b="0" lang="en-US" sz="2400" spc="-1" strike="noStrike">
                <a:solidFill>
                  <a:schemeClr val="dk1"/>
                </a:solidFill>
                <a:latin typeface="Calibri"/>
              </a:rPr>
              <a:t>: 4–7 scans per patient course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Workforce</a:t>
            </a:r>
            <a:r>
              <a:rPr b="0" lang="en-US" sz="2400" spc="-1" strike="noStrike">
                <a:solidFill>
                  <a:schemeClr val="dk1"/>
                </a:solidFill>
                <a:latin typeface="Calibri"/>
              </a:rPr>
              <a:t>: trained nurses, neurologists, neuroradiologists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NICE August 2024</a:t>
            </a:r>
            <a:r>
              <a:rPr b="0" lang="en-US" sz="2400" spc="-1" strike="noStrike">
                <a:solidFill>
                  <a:schemeClr val="dk1"/>
                </a:solidFill>
                <a:latin typeface="Calibri"/>
              </a:rPr>
              <a:t>: rejected lecanemab for NHS commissioning; benefit too small at price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Currently available only privately in the UK; major equity concern</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Open question whether amyloid lowering alone is sufficient or whether combinations will be needed</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Other approaches</a:t>
            </a:r>
            <a:endParaRPr b="0" lang="en-US" sz="3300" spc="-1" strike="noStrike">
              <a:solidFill>
                <a:schemeClr val="dk1"/>
              </a:solidFill>
              <a:latin typeface="Calibri"/>
            </a:endParaRPr>
          </a:p>
        </p:txBody>
      </p:sp>
      <p:sp>
        <p:nvSpPr>
          <p:cNvPr id="213"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0381"/>
          </a:bodyPr>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Anti-tau antibodies</a:t>
            </a:r>
            <a:r>
              <a:rPr b="0" lang="en-US" sz="2400" spc="-1" strike="noStrike">
                <a:solidFill>
                  <a:schemeClr val="dk1"/>
                </a:solidFill>
                <a:latin typeface="Calibri"/>
              </a:rPr>
              <a:t>: E2814, JNJ-2056 (Phase 2; zagotenemab discontinued 2023)</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Tau ASOs</a:t>
            </a:r>
            <a:r>
              <a:rPr b="0" lang="en-US" sz="2400" spc="-1" strike="noStrike">
                <a:solidFill>
                  <a:schemeClr val="dk1"/>
                </a:solidFill>
                <a:latin typeface="Calibri"/>
              </a:rPr>
              <a:t>: intrathecal antisense oligonucleotides, e.g. BIIB080</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Inflammation</a:t>
            </a:r>
            <a:r>
              <a:rPr b="0" lang="en-US" sz="2400" spc="-1" strike="noStrike">
                <a:solidFill>
                  <a:schemeClr val="dk1"/>
                </a:solidFill>
                <a:latin typeface="Calibri"/>
              </a:rPr>
              <a:t>: TREM2 agonists in early trials</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Vaccines</a:t>
            </a:r>
            <a:r>
              <a:rPr b="0" lang="en-US" sz="2400" spc="-1" strike="noStrike">
                <a:solidFill>
                  <a:schemeClr val="dk1"/>
                </a:solidFill>
                <a:latin typeface="Calibri"/>
              </a:rPr>
              <a:t>: UB-311, ABvac40 (Phase 2)</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Prevention trials</a:t>
            </a:r>
            <a:r>
              <a:rPr b="0" lang="en-US" sz="2400" spc="-1" strike="noStrike">
                <a:solidFill>
                  <a:schemeClr val="dk1"/>
                </a:solidFill>
                <a:latin typeface="Calibri"/>
              </a:rPr>
              <a:t> in pre-symptomatic carriers:</a:t>
            </a:r>
            <a:endParaRPr b="0" lang="en-US" sz="2400" spc="-1" strike="noStrike">
              <a:solidFill>
                <a:schemeClr val="dk1"/>
              </a:solidFill>
              <a:latin typeface="Calibri"/>
            </a:endParaRPr>
          </a:p>
          <a:p>
            <a:pPr lvl="1" marL="685800" indent="-343080" defTabSz="343080">
              <a:lnSpc>
                <a:spcPct val="100000"/>
              </a:lnSpc>
              <a:spcBef>
                <a:spcPts val="420"/>
              </a:spcBef>
              <a:buClr>
                <a:srgbClr val="000000"/>
              </a:buClr>
              <a:buFont typeface="Arial"/>
              <a:buChar char="–"/>
            </a:pPr>
            <a:r>
              <a:rPr b="1" lang="en-US" sz="2100" spc="-1" strike="noStrike">
                <a:solidFill>
                  <a:schemeClr val="dk1"/>
                </a:solidFill>
                <a:latin typeface="Calibri"/>
              </a:rPr>
              <a:t>DIAN-TU</a:t>
            </a:r>
            <a:r>
              <a:rPr b="0" lang="en-US" sz="2100" spc="-1" strike="noStrike">
                <a:solidFill>
                  <a:schemeClr val="dk1"/>
                </a:solidFill>
                <a:latin typeface="Calibri"/>
              </a:rPr>
              <a:t>: autosomal-dominant AD families</a:t>
            </a:r>
            <a:endParaRPr b="0" lang="en-US" sz="2100" spc="-1" strike="noStrike">
              <a:solidFill>
                <a:schemeClr val="dk1"/>
              </a:solidFill>
              <a:latin typeface="Calibri"/>
            </a:endParaRPr>
          </a:p>
          <a:p>
            <a:pPr lvl="1" marL="685800" indent="-343080" defTabSz="343080">
              <a:lnSpc>
                <a:spcPct val="100000"/>
              </a:lnSpc>
              <a:spcBef>
                <a:spcPts val="420"/>
              </a:spcBef>
              <a:buClr>
                <a:srgbClr val="000000"/>
              </a:buClr>
              <a:buFont typeface="Arial"/>
              <a:buChar char="–"/>
            </a:pPr>
            <a:r>
              <a:rPr b="1" lang="en-US" sz="2100" spc="-1" strike="noStrike">
                <a:solidFill>
                  <a:schemeClr val="dk1"/>
                </a:solidFill>
                <a:latin typeface="Calibri"/>
              </a:rPr>
              <a:t>AHEAD 3-45</a:t>
            </a:r>
            <a:r>
              <a:rPr b="0" lang="en-US" sz="2100" spc="-1" strike="noStrike">
                <a:solidFill>
                  <a:schemeClr val="dk1"/>
                </a:solidFill>
                <a:latin typeface="Calibri"/>
              </a:rPr>
              <a:t>: sporadic, plasma p-tau217 stratified</a:t>
            </a:r>
            <a:endParaRPr b="0" lang="en-US" sz="2100" spc="-1" strike="noStrike">
              <a:solidFill>
                <a:schemeClr val="dk1"/>
              </a:solidFill>
              <a:latin typeface="Calibri"/>
            </a:endParaRPr>
          </a:p>
          <a:p>
            <a:pPr lvl="1" marL="685800" indent="-343080" defTabSz="343080">
              <a:lnSpc>
                <a:spcPct val="100000"/>
              </a:lnSpc>
              <a:spcBef>
                <a:spcPts val="420"/>
              </a:spcBef>
              <a:buClr>
                <a:srgbClr val="000000"/>
              </a:buClr>
              <a:buFont typeface="Arial"/>
              <a:buChar char="–"/>
            </a:pPr>
            <a:r>
              <a:rPr b="0" i="1" lang="en-US" sz="2100" spc="-1" strike="noStrike">
                <a:solidFill>
                  <a:schemeClr val="dk1"/>
                </a:solidFill>
                <a:latin typeface="Calibri"/>
              </a:rPr>
              <a:t>A4 closed early; solanezumab failed</a:t>
            </a:r>
            <a:endParaRPr b="0" lang="en-US" sz="2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Current state</a:t>
            </a:r>
            <a:endParaRPr b="0" lang="en-US" sz="3300" spc="-1" strike="noStrike">
              <a:solidFill>
                <a:schemeClr val="dk1"/>
              </a:solidFill>
              <a:latin typeface="Calibri"/>
            </a:endParaRPr>
          </a:p>
        </p:txBody>
      </p:sp>
      <p:sp>
        <p:nvSpPr>
          <p:cNvPr id="215"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3713" lnSpcReduction="10000"/>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The first disease-modifying drugs exist. Their effect size is modest. ARIA limits use. Access in the UK is restricted.</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Diagnosis</a:t>
            </a:r>
            <a:r>
              <a:rPr b="0" lang="en-US" sz="2400" spc="-1" strike="noStrike">
                <a:solidFill>
                  <a:schemeClr val="dk1"/>
                </a:solidFill>
                <a:latin typeface="Calibri"/>
              </a:rPr>
              <a:t>: plasma p-tau217 may make primary-care testing feasible.</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1" lang="en-US" sz="2400" spc="-1" strike="noStrike">
                <a:solidFill>
                  <a:schemeClr val="dk1"/>
                </a:solidFill>
                <a:latin typeface="Calibri"/>
              </a:rPr>
              <a:t>Prevention</a:t>
            </a:r>
            <a:r>
              <a:rPr b="0" lang="en-US" sz="2400" spc="-1" strike="noStrike">
                <a:solidFill>
                  <a:schemeClr val="dk1"/>
                </a:solidFill>
                <a:latin typeface="Calibri"/>
              </a:rPr>
              <a:t> may matter more than any antibody:</a:t>
            </a:r>
            <a:endParaRPr b="0" lang="en-US" sz="2400" spc="-1" strike="noStrike">
              <a:solidFill>
                <a:schemeClr val="dk1"/>
              </a:solidFill>
              <a:latin typeface="Calibri"/>
            </a:endParaRPr>
          </a:p>
          <a:p>
            <a:pPr lvl="1" marL="685800" indent="-343080" defTabSz="343080">
              <a:lnSpc>
                <a:spcPct val="100000"/>
              </a:lnSpc>
              <a:spcBef>
                <a:spcPts val="420"/>
              </a:spcBef>
              <a:buClr>
                <a:srgbClr val="000000"/>
              </a:buClr>
              <a:buFont typeface="Arial"/>
              <a:buChar char="–"/>
            </a:pPr>
            <a:r>
              <a:rPr b="0" i="1" lang="en-US" sz="2100" spc="-1" strike="noStrike">
                <a:solidFill>
                  <a:schemeClr val="dk1"/>
                </a:solidFill>
                <a:latin typeface="Calibri"/>
              </a:rPr>
              <a:t>Lancet Commission 2024</a:t>
            </a:r>
            <a:r>
              <a:rPr b="0" lang="en-US" sz="2100" spc="-1" strike="noStrike">
                <a:solidFill>
                  <a:schemeClr val="dk1"/>
                </a:solidFill>
                <a:latin typeface="Calibri"/>
              </a:rPr>
              <a:t>: 14 modifiable risk factors account for ~45% of dementia risk</a:t>
            </a:r>
            <a:endParaRPr b="0" lang="en-US" sz="2100" spc="-1" strike="noStrike">
              <a:solidFill>
                <a:schemeClr val="dk1"/>
              </a:solidFill>
              <a:latin typeface="Calibri"/>
            </a:endParaRPr>
          </a:p>
          <a:p>
            <a:pPr lvl="1" marL="685800" indent="-343080" defTabSz="343080">
              <a:lnSpc>
                <a:spcPct val="100000"/>
              </a:lnSpc>
              <a:spcBef>
                <a:spcPts val="420"/>
              </a:spcBef>
              <a:buClr>
                <a:srgbClr val="000000"/>
              </a:buClr>
              <a:buFont typeface="Arial"/>
              <a:buChar char="–"/>
            </a:pPr>
            <a:r>
              <a:rPr b="0" lang="en-US" sz="2100" spc="-1" strike="noStrike">
                <a:solidFill>
                  <a:schemeClr val="dk1"/>
                </a:solidFill>
                <a:latin typeface="Calibri"/>
              </a:rPr>
              <a:t>Hearing, education, BP, smoking, obesity, depression, physical inactivity, diabetes, alcohol, social isolation, air pollution, head injury, vision, cholesterol</a:t>
            </a:r>
            <a:endParaRPr b="0" lang="en-US" sz="21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What is a Brain Health Centre?</a:t>
            </a:r>
            <a:endParaRPr b="0" lang="en-US" sz="3300" spc="-1" strike="noStrike">
              <a:solidFill>
                <a:schemeClr val="dk1"/>
              </a:solidFill>
              <a:latin typeface="Calibri"/>
            </a:endParaRPr>
          </a:p>
        </p:txBody>
      </p:sp>
      <p:pic>
        <p:nvPicPr>
          <p:cNvPr id="217" name="Picture 1" descr="Pictures_pptx/bhc_cascade.png"/>
          <p:cNvPicPr/>
          <p:nvPr/>
        </p:nvPicPr>
        <p:blipFill>
          <a:blip r:embed="rId1"/>
          <a:stretch/>
        </p:blipFill>
        <p:spPr>
          <a:xfrm>
            <a:off x="2324160" y="1193760"/>
            <a:ext cx="4495320" cy="2882520"/>
          </a:xfrm>
          <a:prstGeom prst="rect">
            <a:avLst/>
          </a:prstGeom>
          <a:ln w="9525">
            <a:noFill/>
          </a:ln>
        </p:spPr>
      </p:pic>
      <p:sp>
        <p:nvSpPr>
          <p:cNvPr id="218" name="TextBox 3"/>
          <p:cNvSpPr/>
          <p:nvPr/>
        </p:nvSpPr>
        <p:spPr>
          <a:xfrm>
            <a:off x="457200" y="4076640"/>
            <a:ext cx="8229240" cy="507600"/>
          </a:xfrm>
          <a:prstGeom prst="rect">
            <a:avLst/>
          </a:prstGeom>
          <a:noFill/>
          <a:ln w="0">
            <a:noFill/>
          </a:ln>
        </p:spPr>
        <p:style>
          <a:lnRef idx="0"/>
          <a:fillRef idx="0"/>
          <a:effectRef idx="0"/>
          <a:fontRef idx="minor"/>
        </p:style>
        <p:txBody>
          <a:bodyPr lIns="90000" rIns="90000" tIns="45000" bIns="45000" anchor="t">
            <a:normAutofit fontScale="56111" lnSpcReduction="10000"/>
          </a:bodyPr>
          <a:p>
            <a:pPr algn="ctr" defTabSz="457200">
              <a:lnSpc>
                <a:spcPct val="100000"/>
              </a:lnSpc>
              <a:tabLst>
                <a:tab algn="l" pos="0"/>
              </a:tabLst>
            </a:pPr>
            <a:r>
              <a:rPr b="0" lang="en-US" sz="1800" spc="-1" strike="noStrike">
                <a:solidFill>
                  <a:schemeClr val="dk1"/>
                </a:solidFill>
                <a:latin typeface="Calibri"/>
              </a:rPr>
              <a:t>Two parallel pathways for the same hypothetical patient (Mary, 64, presenting with memory concern). The Memory Assessment Service track produces a clinical “probable AD” diagnosis after 210 days, with no biomarkers. The Brain Health Centre track produces a biomarker-confirmed diagnosis in 42 days with a structured risk-reduction plan.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Manchester Brain Health Centre</a:t>
            </a:r>
            <a:endParaRPr b="0" lang="en-US" sz="3300" spc="-1" strike="noStrike">
              <a:solidFill>
                <a:schemeClr val="dk1"/>
              </a:solidFill>
              <a:latin typeface="Calibri"/>
            </a:endParaRPr>
          </a:p>
        </p:txBody>
      </p:sp>
      <p:pic>
        <p:nvPicPr>
          <p:cNvPr id="220" name="Picture 1" descr="Pictures_pptx/bhc_mbhc.png"/>
          <p:cNvPicPr/>
          <p:nvPr/>
        </p:nvPicPr>
        <p:blipFill>
          <a:blip r:embed="rId1"/>
          <a:stretch/>
        </p:blipFill>
        <p:spPr>
          <a:xfrm>
            <a:off x="2324160" y="1193760"/>
            <a:ext cx="4495320" cy="2882520"/>
          </a:xfrm>
          <a:prstGeom prst="rect">
            <a:avLst/>
          </a:prstGeom>
          <a:ln w="9525">
            <a:noFill/>
          </a:ln>
        </p:spPr>
      </p:pic>
      <p:sp>
        <p:nvSpPr>
          <p:cNvPr id="221" name="TextBox 3"/>
          <p:cNvSpPr/>
          <p:nvPr/>
        </p:nvSpPr>
        <p:spPr>
          <a:xfrm>
            <a:off x="457200" y="4076640"/>
            <a:ext cx="8229240" cy="507600"/>
          </a:xfrm>
          <a:prstGeom prst="rect">
            <a:avLst/>
          </a:prstGeom>
          <a:noFill/>
          <a:ln w="0">
            <a:noFill/>
          </a:ln>
        </p:spPr>
        <p:style>
          <a:lnRef idx="0"/>
          <a:fillRef idx="0"/>
          <a:effectRef idx="0"/>
          <a:fontRef idx="minor"/>
        </p:style>
        <p:txBody>
          <a:bodyPr lIns="90000" rIns="90000" tIns="45000" bIns="45000" anchor="t">
            <a:normAutofit fontScale="50000"/>
          </a:bodyPr>
          <a:p>
            <a:pPr algn="ctr" defTabSz="457200">
              <a:lnSpc>
                <a:spcPct val="100000"/>
              </a:lnSpc>
              <a:tabLst>
                <a:tab algn="l" pos="0"/>
              </a:tabLst>
            </a:pPr>
            <a:r>
              <a:rPr b="0" lang="en-US" sz="1800" spc="-1" strike="noStrike">
                <a:solidFill>
                  <a:schemeClr val="dk1"/>
                </a:solidFill>
                <a:latin typeface="Calibri"/>
              </a:rPr>
              <a:t>Three core partners (GMMH, MFT, Alzheimer’s Society) plus the University of Manchester. One-day pathway across six stations: triage, plasma p-tau217, same-day MRI, clinic with cardiovascular check, CSF if needed, disclosure with Brain Health Advisor follow-up. Headline KPIs: 49 days median pathway, 73% reduction in time to diagnosis, ~80% spared a lumbar puncture, 0 serious LP adverse events.</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What’s next, and why it matters</a:t>
            </a:r>
            <a:endParaRPr b="0" lang="en-US" sz="3300" spc="-1" strike="noStrike">
              <a:solidFill>
                <a:schemeClr val="dk1"/>
              </a:solidFill>
              <a:latin typeface="Calibri"/>
            </a:endParaRPr>
          </a:p>
        </p:txBody>
      </p:sp>
      <p:pic>
        <p:nvPicPr>
          <p:cNvPr id="223" name="Picture 1" descr="Pictures_pptx/bhc_why.png"/>
          <p:cNvPicPr/>
          <p:nvPr/>
        </p:nvPicPr>
        <p:blipFill>
          <a:blip r:embed="rId1"/>
          <a:stretch/>
        </p:blipFill>
        <p:spPr>
          <a:xfrm>
            <a:off x="2324160" y="1193760"/>
            <a:ext cx="4495320" cy="2882520"/>
          </a:xfrm>
          <a:prstGeom prst="rect">
            <a:avLst/>
          </a:prstGeom>
          <a:ln w="9525">
            <a:noFill/>
          </a:ln>
        </p:spPr>
      </p:pic>
      <p:sp>
        <p:nvSpPr>
          <p:cNvPr id="224" name="TextBox 3"/>
          <p:cNvSpPr/>
          <p:nvPr/>
        </p:nvSpPr>
        <p:spPr>
          <a:xfrm>
            <a:off x="457200" y="4076640"/>
            <a:ext cx="8229240" cy="507600"/>
          </a:xfrm>
          <a:prstGeom prst="rect">
            <a:avLst/>
          </a:prstGeom>
          <a:noFill/>
          <a:ln w="0">
            <a:noFill/>
          </a:ln>
        </p:spPr>
        <p:style>
          <a:lnRef idx="0"/>
          <a:fillRef idx="0"/>
          <a:effectRef idx="0"/>
          <a:fontRef idx="minor"/>
        </p:style>
        <p:txBody>
          <a:bodyPr lIns="90000" rIns="90000" tIns="45000" bIns="45000" anchor="t">
            <a:normAutofit fontScale="71666"/>
          </a:bodyPr>
          <a:p>
            <a:pPr algn="ctr" defTabSz="457200">
              <a:lnSpc>
                <a:spcPct val="100000"/>
              </a:lnSpc>
              <a:tabLst>
                <a:tab algn="l" pos="0"/>
              </a:tabLst>
            </a:pPr>
            <a:r>
              <a:rPr b="0" lang="en-US" sz="1800" spc="-1" strike="noStrike">
                <a:solidFill>
                  <a:schemeClr val="dk1"/>
                </a:solidFill>
                <a:latin typeface="Calibri"/>
              </a:rPr>
              <a:t>Headline statistic from Lancet Commission 2024: 45% of dementia worldwide is linked to 14 modifiable risk factors. Risk factors arranged by life stage. Two columns at the bottom: what’s next at MBHC, and why this matters for psychology.</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Questions on the material (5 minutes)</a:t>
            </a:r>
            <a:endParaRPr b="0" lang="en-US" sz="3300" spc="-1" strike="noStrike">
              <a:solidFill>
                <a:schemeClr val="dk1"/>
              </a:solidFill>
              <a:latin typeface="Calibri"/>
            </a:endParaRPr>
          </a:p>
        </p:txBody>
      </p:sp>
      <p:sp>
        <p:nvSpPr>
          <p:cNvPr id="226"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Open floor.</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Q&amp;A with our trial participant (10–20 minutes)</a:t>
            </a:r>
            <a:endParaRPr b="0" lang="en-US" sz="3300" spc="-1" strike="noStrike">
              <a:solidFill>
                <a:schemeClr val="dk1"/>
              </a:solidFill>
              <a:latin typeface="Calibri"/>
            </a:endParaRPr>
          </a:p>
        </p:txBody>
      </p:sp>
      <p:sp>
        <p:nvSpPr>
          <p:cNvPr id="228"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Welcome.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Student questions (10 minutes)</a:t>
            </a:r>
            <a:endParaRPr b="0" lang="en-US" sz="3300" spc="-1" strike="noStrike">
              <a:solidFill>
                <a:schemeClr val="dk1"/>
              </a:solidFill>
              <a:latin typeface="Calibri"/>
            </a:endParaRPr>
          </a:p>
        </p:txBody>
      </p:sp>
      <p:sp>
        <p:nvSpPr>
          <p:cNvPr id="230"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a:bodyPr>
          <a:p>
            <a:pPr indent="0" defTabSz="343080">
              <a:lnSpc>
                <a:spcPct val="100000"/>
              </a:lnSpc>
              <a:spcBef>
                <a:spcPts val="479"/>
              </a:spcBef>
              <a:buNone/>
              <a:tabLst>
                <a:tab algn="l" pos="0"/>
              </a:tabLst>
            </a:pPr>
            <a:r>
              <a:rPr b="0" lang="en-US" sz="2400" spc="-1" strike="noStrike">
                <a:solidFill>
                  <a:schemeClr val="dk1"/>
                </a:solidFill>
                <a:latin typeface="Calibri"/>
              </a:rPr>
              <a:t>Over to you.</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Summary</a:t>
            </a:r>
            <a:endParaRPr b="0" lang="en-US" sz="3300" spc="-1" strike="noStrike">
              <a:solidFill>
                <a:schemeClr val="dk1"/>
              </a:solidFill>
              <a:latin typeface="Calibri"/>
            </a:endParaRPr>
          </a:p>
        </p:txBody>
      </p:sp>
      <p:sp>
        <p:nvSpPr>
          <p:cNvPr id="232"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6628"/>
          </a:bodyPr>
          <a:p>
            <a:pPr marL="343080" indent="-343080" defTabSz="343080">
              <a:lnSpc>
                <a:spcPct val="100000"/>
              </a:lnSpc>
              <a:spcBef>
                <a:spcPts val="479"/>
              </a:spcBef>
              <a:buClr>
                <a:srgbClr val="000000"/>
              </a:buClr>
              <a:buFont typeface="Arial"/>
              <a:buAutoNum type="arabicPeriod"/>
            </a:pPr>
            <a:r>
              <a:rPr b="1" lang="en-US" sz="2400" spc="-1" strike="noStrike">
                <a:solidFill>
                  <a:schemeClr val="dk1"/>
                </a:solidFill>
                <a:latin typeface="Calibri"/>
              </a:rPr>
              <a:t>Dementia is a syndrome; AD is defined biologically.</a:t>
            </a:r>
            <a:r>
              <a:rPr b="0" lang="en-US" sz="2400" spc="-1" strike="noStrike">
                <a:solidFill>
                  <a:schemeClr val="dk1"/>
                </a:solidFill>
                <a:latin typeface="Calibri"/>
              </a:rPr>
              <a:t> Aβ and tau can be detected in life via CSF, plasma p-tau217, or PET.</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AutoNum type="arabicPeriod"/>
            </a:pPr>
            <a:r>
              <a:rPr b="1" lang="en-US" sz="2400" spc="-1" strike="noStrike">
                <a:solidFill>
                  <a:schemeClr val="dk1"/>
                </a:solidFill>
                <a:latin typeface="Calibri"/>
              </a:rPr>
              <a:t>Symptomatic treatments help modestly and do not change disease course.</a:t>
            </a:r>
            <a:r>
              <a:rPr b="0" lang="en-US" sz="2400" spc="-1" strike="noStrike">
                <a:solidFill>
                  <a:schemeClr val="dk1"/>
                </a:solidFill>
                <a:latin typeface="Calibri"/>
              </a:rPr>
              <a:t> AChEi and memantine offer about a 6-month delay. Non-pharmacological BPSD interventions are first-line. Antipsychotics carry mortality risk.</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AutoNum type="arabicPeriod"/>
            </a:pPr>
            <a:r>
              <a:rPr b="1" lang="en-US" sz="2400" spc="-1" strike="noStrike">
                <a:solidFill>
                  <a:schemeClr val="dk1"/>
                </a:solidFill>
                <a:latin typeface="Calibri"/>
              </a:rPr>
              <a:t>Anti-amyloid antibodies are the first disease-modifying drugs.</a:t>
            </a:r>
            <a:r>
              <a:rPr b="0" lang="en-US" sz="2400" spc="-1" strike="noStrike">
                <a:solidFill>
                  <a:schemeClr val="dk1"/>
                </a:solidFill>
                <a:latin typeface="Calibri"/>
              </a:rPr>
              <a:t> Effect size is modest. ARIA limits use. NICE has rejected them for the NHS. Prevention may matter more.</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References (1/2)</a:t>
            </a:r>
            <a:endParaRPr b="0" lang="en-US" sz="3300" spc="-1" strike="noStrike">
              <a:solidFill>
                <a:schemeClr val="dk1"/>
              </a:solidFill>
              <a:latin typeface="Calibri"/>
            </a:endParaRPr>
          </a:p>
        </p:txBody>
      </p:sp>
      <p:sp>
        <p:nvSpPr>
          <p:cNvPr id="234"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74970"/>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Bowen DM, Smith CB, White P, Davison AN. Neurotransmitter-related enzymes and indices of hypoxia in senile dementia and other abiotrophies. </a:t>
            </a:r>
            <a:r>
              <a:rPr b="0" i="1" lang="en-US" sz="2400" spc="-1" strike="noStrike">
                <a:solidFill>
                  <a:schemeClr val="dk1"/>
                </a:solidFill>
                <a:latin typeface="Calibri"/>
              </a:rPr>
              <a:t>Brain</a:t>
            </a:r>
            <a:r>
              <a:rPr b="0" lang="en-US" sz="2400" spc="-1" strike="noStrike">
                <a:solidFill>
                  <a:schemeClr val="dk1"/>
                </a:solidFill>
                <a:latin typeface="Calibri"/>
              </a:rPr>
              <a:t> 1976; 99(3): 459–96.</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Hardy JA, Higgins GA. Alzheimer’s disease: the amyloid cascade hypothesis. </a:t>
            </a:r>
            <a:r>
              <a:rPr b="0" i="1" lang="en-US" sz="2400" spc="-1" strike="noStrike">
                <a:solidFill>
                  <a:schemeClr val="dk1"/>
                </a:solidFill>
                <a:latin typeface="Calibri"/>
              </a:rPr>
              <a:t>Science</a:t>
            </a:r>
            <a:r>
              <a:rPr b="0" lang="en-US" sz="2400" spc="-1" strike="noStrike">
                <a:solidFill>
                  <a:schemeClr val="dk1"/>
                </a:solidFill>
                <a:latin typeface="Calibri"/>
              </a:rPr>
              <a:t> 1992; 256(5054): 184–5.</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Jack CR Jr, Bennett DA, Blennow K, et al. NIA-AA Research Framework: Toward a biological definition of Alzheimer’s disease. </a:t>
            </a:r>
            <a:r>
              <a:rPr b="0" i="1" lang="en-US" sz="2400" spc="-1" strike="noStrike">
                <a:solidFill>
                  <a:schemeClr val="dk1"/>
                </a:solidFill>
                <a:latin typeface="Calibri"/>
              </a:rPr>
              <a:t>Alzheimer’s &amp; Dementia</a:t>
            </a:r>
            <a:r>
              <a:rPr b="0" lang="en-US" sz="2400" spc="-1" strike="noStrike">
                <a:solidFill>
                  <a:schemeClr val="dk1"/>
                </a:solidFill>
                <a:latin typeface="Calibri"/>
              </a:rPr>
              <a:t> 2018; 14(4): 535–62.</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Livingston G, Huntley J, Liu KY, et al. Dementia prevention, intervention, and care: 2024 report of the Lancet standing Commission. </a:t>
            </a:r>
            <a:r>
              <a:rPr b="0" i="1" lang="en-US" sz="2400" spc="-1" strike="noStrike">
                <a:solidFill>
                  <a:schemeClr val="dk1"/>
                </a:solidFill>
                <a:latin typeface="Calibri"/>
              </a:rPr>
              <a:t>The Lancet</a:t>
            </a:r>
            <a:r>
              <a:rPr b="0" lang="en-US" sz="2400" spc="-1" strike="noStrike">
                <a:solidFill>
                  <a:schemeClr val="dk1"/>
                </a:solidFill>
                <a:latin typeface="Calibri"/>
              </a:rPr>
              <a:t> 2024; 404(10452): 572–628.</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457200" y="205920"/>
            <a:ext cx="8229240" cy="856800"/>
          </a:xfrm>
          <a:prstGeom prst="rect">
            <a:avLst/>
          </a:prstGeom>
          <a:noFill/>
          <a:ln w="0">
            <a:noFill/>
          </a:ln>
        </p:spPr>
        <p:txBody>
          <a:bodyPr lIns="91440" rIns="91440" tIns="45720" bIns="45720" anchor="ctr">
            <a:normAutofit/>
          </a:bodyPr>
          <a:p>
            <a:pPr indent="0" algn="ctr" defTabSz="343080">
              <a:lnSpc>
                <a:spcPct val="100000"/>
              </a:lnSpc>
              <a:buNone/>
              <a:tabLst>
                <a:tab algn="l" pos="0"/>
              </a:tabLst>
            </a:pPr>
            <a:r>
              <a:rPr b="0" lang="en-US" sz="3300" spc="-1" strike="noStrike">
                <a:solidFill>
                  <a:schemeClr val="dk1"/>
                </a:solidFill>
                <a:latin typeface="Calibri"/>
              </a:rPr>
              <a:t>References (2/2)</a:t>
            </a:r>
            <a:endParaRPr b="0" lang="en-US" sz="3300" spc="-1" strike="noStrike">
              <a:solidFill>
                <a:schemeClr val="dk1"/>
              </a:solidFill>
              <a:latin typeface="Calibri"/>
            </a:endParaRPr>
          </a:p>
        </p:txBody>
      </p:sp>
      <p:sp>
        <p:nvSpPr>
          <p:cNvPr id="236" name="PlaceHolder 2"/>
          <p:cNvSpPr>
            <a:spLocks noGrp="1"/>
          </p:cNvSpPr>
          <p:nvPr>
            <p:ph/>
          </p:nvPr>
        </p:nvSpPr>
        <p:spPr>
          <a:xfrm>
            <a:off x="457200" y="1200240"/>
            <a:ext cx="8229240" cy="3394080"/>
          </a:xfrm>
          <a:prstGeom prst="rect">
            <a:avLst/>
          </a:prstGeom>
          <a:noFill/>
          <a:ln w="0">
            <a:noFill/>
          </a:ln>
        </p:spPr>
        <p:txBody>
          <a:bodyPr lIns="91440" rIns="91440" tIns="45720" bIns="45720" anchor="t">
            <a:normAutofit fontScale="96628"/>
          </a:bodyPr>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Palmqvist S, Tideman P, Mattsson-Carlgren N, et al. Blood biomarkers to detect Alzheimer disease in primary care and secondary care. </a:t>
            </a:r>
            <a:r>
              <a:rPr b="0" i="1" lang="en-US" sz="2400" spc="-1" strike="noStrike">
                <a:solidFill>
                  <a:schemeClr val="dk1"/>
                </a:solidFill>
                <a:latin typeface="Calibri"/>
              </a:rPr>
              <a:t>JAMA</a:t>
            </a:r>
            <a:r>
              <a:rPr b="0" lang="en-US" sz="2400" spc="-1" strike="noStrike">
                <a:solidFill>
                  <a:schemeClr val="dk1"/>
                </a:solidFill>
                <a:latin typeface="Calibri"/>
              </a:rPr>
              <a:t> 2024; 332(15): 1245–57.</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Sims JR, Zimmer JA, Evans CD, et al. Donanemab in early symptomatic Alzheimer’s disease: the TRAILBLAZER-ALZ 2 randomized clinical trial. </a:t>
            </a:r>
            <a:r>
              <a:rPr b="0" i="1" lang="en-US" sz="2400" spc="-1" strike="noStrike">
                <a:solidFill>
                  <a:schemeClr val="dk1"/>
                </a:solidFill>
                <a:latin typeface="Calibri"/>
              </a:rPr>
              <a:t>JAMA</a:t>
            </a:r>
            <a:r>
              <a:rPr b="0" lang="en-US" sz="2400" spc="-1" strike="noStrike">
                <a:solidFill>
                  <a:schemeClr val="dk1"/>
                </a:solidFill>
                <a:latin typeface="Calibri"/>
              </a:rPr>
              <a:t> 2023; 330(6): 512–27.</a:t>
            </a:r>
            <a:endParaRPr b="0" lang="en-US" sz="2400" spc="-1" strike="noStrike">
              <a:solidFill>
                <a:schemeClr val="dk1"/>
              </a:solidFill>
              <a:latin typeface="Calibri"/>
            </a:endParaRPr>
          </a:p>
          <a:p>
            <a:pPr marL="343080" indent="-343080" defTabSz="343080">
              <a:lnSpc>
                <a:spcPct val="100000"/>
              </a:lnSpc>
              <a:spcBef>
                <a:spcPts val="479"/>
              </a:spcBef>
              <a:buClr>
                <a:srgbClr val="000000"/>
              </a:buClr>
              <a:buFont typeface="Arial"/>
              <a:buChar char="•"/>
            </a:pPr>
            <a:r>
              <a:rPr b="0" lang="en-US" sz="2400" spc="-1" strike="noStrike">
                <a:solidFill>
                  <a:schemeClr val="dk1"/>
                </a:solidFill>
                <a:latin typeface="Calibri"/>
              </a:rPr>
              <a:t>van Dyck CH, Swanson CJ, Aisen P, et al. Lecanemab in early Alzheimer’s disease. </a:t>
            </a:r>
            <a:r>
              <a:rPr b="0" i="1" lang="en-US" sz="2400" spc="-1" strike="noStrike">
                <a:solidFill>
                  <a:schemeClr val="dk1"/>
                </a:solidFill>
                <a:latin typeface="Calibri"/>
              </a:rPr>
              <a:t>New England Journal of Medicine</a:t>
            </a:r>
            <a:r>
              <a:rPr b="0" lang="en-US" sz="2400" spc="-1" strike="noStrike">
                <a:solidFill>
                  <a:schemeClr val="dk1"/>
                </a:solidFill>
                <a:latin typeface="Calibri"/>
              </a:rPr>
              <a:t> 2023; 388(1): 9–21.</a:t>
            </a:r>
            <a:endParaRPr b="0" lang="en-US" sz="2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2026-04-26T15:12:54Z</dcterms:created>
  <dc:creator>Dr. Ross A. Dunne</dc:creator>
  <dc:description/>
  <dc:language>en-GB</dc:language>
  <cp:lastModifiedBy>Ross Dunne</cp:lastModifiedBy>
  <dcterms:modified xsi:type="dcterms:W3CDTF">2026-04-26T16:50:46Z</dcterms:modified>
  <cp:revision>3</cp:revision>
  <dc:subject/>
  <dc:title>Dementia and its treatments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2026-04-26</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institute">
    <vt:lpwstr>Greater Manchester Dementia Research Centre</vt:lpwstr>
  </property>
  <property fmtid="{D5CDD505-2E9C-101B-9397-08002B2CF9AE}" pid="12" name="institutes">
    <vt:lpwstr/>
  </property>
  <property fmtid="{D5CDD505-2E9C-101B-9397-08002B2CF9AE}" pid="13" name="labels">
    <vt:lpwstr/>
  </property>
  <property fmtid="{D5CDD505-2E9C-101B-9397-08002B2CF9AE}" pid="14" name="subtitle">
    <vt:lpwstr>UoM Psychology Undergraduate Lecture — April 2026 (PowerPoint handout)</vt:lpwstr>
  </property>
  <property fmtid="{D5CDD505-2E9C-101B-9397-08002B2CF9AE}" pid="15" name="toc-title">
    <vt:lpwstr>Table of contents</vt:lpwstr>
  </property>
</Properties>
</file>